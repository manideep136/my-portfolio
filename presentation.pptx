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332" r:id="rId2"/>
    <p:sldId id="362" r:id="rId3"/>
    <p:sldId id="400" r:id="rId4"/>
    <p:sldId id="398" r:id="rId5"/>
    <p:sldId id="384" r:id="rId6"/>
    <p:sldId id="386" r:id="rId7"/>
    <p:sldId id="392" r:id="rId8"/>
    <p:sldId id="388" r:id="rId9"/>
    <p:sldId id="389" r:id="rId10"/>
    <p:sldId id="395" r:id="rId11"/>
    <p:sldId id="394" r:id="rId12"/>
    <p:sldId id="390" r:id="rId13"/>
    <p:sldId id="399" r:id="rId14"/>
    <p:sldId id="396" r:id="rId15"/>
    <p:sldId id="397" r:id="rId16"/>
    <p:sldId id="391" r:id="rId17"/>
    <p:sldId id="393" r:id="rId18"/>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66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4281" autoAdjust="0"/>
  </p:normalViewPr>
  <p:slideViewPr>
    <p:cSldViewPr>
      <p:cViewPr varScale="1">
        <p:scale>
          <a:sx n="92" d="100"/>
          <a:sy n="92" d="100"/>
        </p:scale>
        <p:origin x="1186" y="58"/>
      </p:cViewPr>
      <p:guideLst>
        <p:guide orient="horz" pos="162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ran Deep" userId="14882a6a37e130d5" providerId="LiveId" clId="{9BBFFC22-1C59-47AE-9739-65E901B9E85B}"/>
    <pc:docChg chg="modSld sldOrd">
      <pc:chgData name="Sharan Deep" userId="14882a6a37e130d5" providerId="LiveId" clId="{9BBFFC22-1C59-47AE-9739-65E901B9E85B}" dt="2025-10-24T11:48:17.408" v="11"/>
      <pc:docMkLst>
        <pc:docMk/>
      </pc:docMkLst>
      <pc:sldChg chg="modSp mod">
        <pc:chgData name="Sharan Deep" userId="14882a6a37e130d5" providerId="LiveId" clId="{9BBFFC22-1C59-47AE-9739-65E901B9E85B}" dt="2025-10-13T05:19:53.212" v="9" actId="20577"/>
        <pc:sldMkLst>
          <pc:docMk/>
          <pc:sldMk cId="0" sldId="332"/>
        </pc:sldMkLst>
        <pc:spChg chg="mod">
          <ac:chgData name="Sharan Deep" userId="14882a6a37e130d5" providerId="LiveId" clId="{9BBFFC22-1C59-47AE-9739-65E901B9E85B}" dt="2025-10-13T05:19:53.212" v="9" actId="20577"/>
          <ac:spMkLst>
            <pc:docMk/>
            <pc:sldMk cId="0" sldId="332"/>
            <ac:spMk id="4" creationId="{70A44BAB-9F42-06C9-B08F-C38BE8CEEEB9}"/>
          </ac:spMkLst>
        </pc:spChg>
      </pc:sldChg>
      <pc:sldChg chg="ord">
        <pc:chgData name="Sharan Deep" userId="14882a6a37e130d5" providerId="LiveId" clId="{9BBFFC22-1C59-47AE-9739-65E901B9E85B}" dt="2025-10-24T11:48:17.408" v="11"/>
        <pc:sldMkLst>
          <pc:docMk/>
          <pc:sldMk cId="4132272878" sldId="386"/>
        </pc:sldMkLst>
      </pc:sldChg>
      <pc:sldChg chg="modSp mod">
        <pc:chgData name="Sharan Deep" userId="14882a6a37e130d5" providerId="LiveId" clId="{9BBFFC22-1C59-47AE-9739-65E901B9E85B}" dt="2025-10-13T05:18:37.941" v="6" actId="20577"/>
        <pc:sldMkLst>
          <pc:docMk/>
          <pc:sldMk cId="2074855207" sldId="388"/>
        </pc:sldMkLst>
        <pc:spChg chg="mod">
          <ac:chgData name="Sharan Deep" userId="14882a6a37e130d5" providerId="LiveId" clId="{9BBFFC22-1C59-47AE-9739-65E901B9E85B}" dt="2025-10-13T05:18:37.941" v="6" actId="20577"/>
          <ac:spMkLst>
            <pc:docMk/>
            <pc:sldMk cId="2074855207" sldId="388"/>
            <ac:spMk id="7" creationId="{89EFA8B4-6DE0-66EF-2BBC-99DB5E6BF4A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BEF44EB-9559-410D-B9D2-E5EE47EE71EF}" type="datetimeFigureOut">
              <a:rPr lang="en-US" smtClean="0"/>
              <a:pPr/>
              <a:t>10/24/2025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AADADA9-0F65-47B7-B841-33C55E8DD2A2}" type="slidenum">
              <a:rPr lang="en-US" smtClean="0"/>
              <a:pPr/>
              <a:t>‹#›</a:t>
            </a:fld>
            <a:endParaRPr lang="en-US"/>
          </a:p>
        </p:txBody>
      </p:sp>
    </p:spTree>
    <p:extLst>
      <p:ext uri="{BB962C8B-B14F-4D97-AF65-F5344CB8AC3E}">
        <p14:creationId xmlns:p14="http://schemas.microsoft.com/office/powerpoint/2010/main" val="19648670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AADADA9-0F65-47B7-B841-33C55E8DD2A2}" type="slidenum">
              <a:rPr lang="en-US" smtClean="0"/>
              <a:pPr/>
              <a:t>5</a:t>
            </a:fld>
            <a:endParaRPr lang="en-US"/>
          </a:p>
        </p:txBody>
      </p:sp>
    </p:spTree>
    <p:extLst>
      <p:ext uri="{BB962C8B-B14F-4D97-AF65-F5344CB8AC3E}">
        <p14:creationId xmlns:p14="http://schemas.microsoft.com/office/powerpoint/2010/main" val="18402228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AADADA9-0F65-47B7-B841-33C55E8DD2A2}" type="slidenum">
              <a:rPr lang="en-US" smtClean="0"/>
              <a:pPr/>
              <a:t>8</a:t>
            </a:fld>
            <a:endParaRPr lang="en-US"/>
          </a:p>
        </p:txBody>
      </p:sp>
    </p:spTree>
    <p:extLst>
      <p:ext uri="{BB962C8B-B14F-4D97-AF65-F5344CB8AC3E}">
        <p14:creationId xmlns:p14="http://schemas.microsoft.com/office/powerpoint/2010/main" val="9075233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E7F46C0-CB14-4E67-A055-215E6C1C6EB0}" type="datetimeFigureOut">
              <a:rPr lang="en-US" smtClean="0"/>
              <a:pPr/>
              <a:t>10/24/2025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1EE8DB-46DF-46F2-AC97-E753418DFCA1}"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E7F46C0-CB14-4E67-A055-215E6C1C6EB0}" type="datetimeFigureOut">
              <a:rPr lang="en-US" smtClean="0"/>
              <a:pPr/>
              <a:t>10/24/2025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1EE8DB-46DF-46F2-AC97-E753418DFCA1}"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7F46C0-CB14-4E67-A055-215E6C1C6EB0}" type="datetimeFigureOut">
              <a:rPr lang="en-US" smtClean="0"/>
              <a:pPr/>
              <a:t>10/24/2025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1EE8DB-46DF-46F2-AC97-E753418DFCA1}"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E7F46C0-CB14-4E67-A055-215E6C1C6EB0}" type="datetimeFigureOut">
              <a:rPr lang="en-US" smtClean="0"/>
              <a:pPr/>
              <a:t>10/24/2025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1EE8DB-46DF-46F2-AC97-E753418DFCA1}"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E7F46C0-CB14-4E67-A055-215E6C1C6EB0}" type="datetimeFigureOut">
              <a:rPr lang="en-US" smtClean="0"/>
              <a:pPr/>
              <a:t>10/24/2025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21EE8DB-46DF-46F2-AC97-E753418DFCA1}"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E7F46C0-CB14-4E67-A055-215E6C1C6EB0}" type="datetimeFigureOut">
              <a:rPr lang="en-US" smtClean="0"/>
              <a:pPr/>
              <a:t>10/24/2025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21EE8DB-46DF-46F2-AC97-E753418DFCA1}"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7F46C0-CB14-4E67-A055-215E6C1C6EB0}" type="datetimeFigureOut">
              <a:rPr lang="en-US" smtClean="0"/>
              <a:pPr/>
              <a:t>10/24/2025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21EE8DB-46DF-46F2-AC97-E753418DFCA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E7F46C0-CB14-4E67-A055-215E6C1C6EB0}" type="datetimeFigureOut">
              <a:rPr lang="en-US" smtClean="0"/>
              <a:pPr/>
              <a:t>10/24/2025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1EE8DB-46DF-46F2-AC97-E753418DFCA1}"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E7F46C0-CB14-4E67-A055-215E6C1C6EB0}" type="datetimeFigureOut">
              <a:rPr lang="en-US" smtClean="0"/>
              <a:pPr/>
              <a:t>10/24/2025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1EE8DB-46DF-46F2-AC97-E753418DFCA1}"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E7F46C0-CB14-4E67-A055-215E6C1C6EB0}" type="datetimeFigureOut">
              <a:rPr lang="en-US" smtClean="0"/>
              <a:pPr/>
              <a:t>10/24/2025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1EE8DB-46DF-46F2-AC97-E753418DFCA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E7F46C0-CB14-4E67-A055-215E6C1C6EB0}" type="datetimeFigureOut">
              <a:rPr lang="en-US" smtClean="0"/>
              <a:pPr/>
              <a:t>10/24/2025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1EE8DB-46DF-46F2-AC97-E753418DFCA1}"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1E7F46C0-CB14-4E67-A055-215E6C1C6EB0}" type="datetimeFigureOut">
              <a:rPr lang="en-US" smtClean="0"/>
              <a:pPr/>
              <a:t>10/24/2025</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421EE8DB-46DF-46F2-AC97-E753418DFCA1}"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2DE78692-6BE5-0615-74CA-315B74C37702}"/>
              </a:ext>
            </a:extLst>
          </p:cNvPr>
          <p:cNvGrpSpPr/>
          <p:nvPr/>
        </p:nvGrpSpPr>
        <p:grpSpPr>
          <a:xfrm>
            <a:off x="0" y="0"/>
            <a:ext cx="9144000" cy="5153769"/>
            <a:chOff x="0" y="0"/>
            <a:chExt cx="9144000" cy="5153769"/>
          </a:xfrm>
        </p:grpSpPr>
        <p:sp>
          <p:nvSpPr>
            <p:cNvPr id="6" name="Rectangle 5"/>
            <p:cNvSpPr/>
            <p:nvPr/>
          </p:nvSpPr>
          <p:spPr>
            <a:xfrm>
              <a:off x="0" y="0"/>
              <a:ext cx="9144000" cy="84355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0" y="4886275"/>
              <a:ext cx="9144000" cy="267494"/>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latin typeface="Times New Roman" panose="02020603050405020304" pitchFamily="18" charset="0"/>
                  <a:cs typeface="Times New Roman" panose="02020603050405020304" pitchFamily="18" charset="0"/>
                </a:rPr>
                <a:t>MRCET    CAMPUS                                                                                                         Department of Electronics &amp; Communication Engineering </a:t>
              </a:r>
            </a:p>
          </p:txBody>
        </p:sp>
        <p:pic>
          <p:nvPicPr>
            <p:cNvPr id="10" name="Picture 9">
              <a:extLst>
                <a:ext uri="{FF2B5EF4-FFF2-40B4-BE49-F238E27FC236}">
                  <a16:creationId xmlns:a16="http://schemas.microsoft.com/office/drawing/2014/main" id="{72AEFF41-2C2F-3639-C4A8-00FEFCEB703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25890" y="0"/>
              <a:ext cx="1218110" cy="1191577"/>
            </a:xfrm>
            <a:prstGeom prst="rect">
              <a:avLst/>
            </a:prstGeom>
          </p:spPr>
        </p:pic>
      </p:grpSp>
      <p:sp>
        <p:nvSpPr>
          <p:cNvPr id="2" name="Title 1"/>
          <p:cNvSpPr>
            <a:spLocks noGrp="1"/>
          </p:cNvSpPr>
          <p:nvPr>
            <p:ph type="ctrTitle"/>
          </p:nvPr>
        </p:nvSpPr>
        <p:spPr>
          <a:xfrm>
            <a:off x="685800" y="1923678"/>
            <a:ext cx="7772400" cy="1102519"/>
          </a:xfrm>
          <a:solidFill>
            <a:schemeClr val="tx2">
              <a:lumMod val="75000"/>
            </a:schemeClr>
          </a:solidFill>
        </p:spPr>
        <p:txBody>
          <a:bodyPr>
            <a:normAutofit/>
          </a:bodyPr>
          <a:lstStyle/>
          <a:p>
            <a:r>
              <a:rPr lang="en-US" sz="3200" dirty="0">
                <a:solidFill>
                  <a:srgbClr val="FFFF00"/>
                </a:solidFill>
                <a:latin typeface="Times New Roman" pitchFamily="18" charset="0"/>
                <a:cs typeface="Times New Roman" pitchFamily="18" charset="0"/>
              </a:rPr>
              <a:t>CROP DISEASE DETECTION USING IMAGE CLASSIFICATION</a:t>
            </a:r>
          </a:p>
        </p:txBody>
      </p:sp>
      <p:sp>
        <p:nvSpPr>
          <p:cNvPr id="3" name="TextBox 2"/>
          <p:cNvSpPr txBox="1"/>
          <p:nvPr/>
        </p:nvSpPr>
        <p:spPr>
          <a:xfrm>
            <a:off x="1943708" y="1511018"/>
            <a:ext cx="5256584" cy="461665"/>
          </a:xfrm>
          <a:prstGeom prst="rect">
            <a:avLst/>
          </a:prstGeom>
          <a:noFill/>
        </p:spPr>
        <p:txBody>
          <a:bodyPr wrap="square" rtlCol="0">
            <a:spAutoFit/>
          </a:bodyPr>
          <a:lstStyle/>
          <a:p>
            <a:pPr algn="ctr"/>
            <a:r>
              <a:rPr lang="en-US" sz="2400" dirty="0">
                <a:latin typeface="Times New Roman" pitchFamily="18" charset="0"/>
                <a:cs typeface="Times New Roman" pitchFamily="18" charset="0"/>
              </a:rPr>
              <a:t>APPLICATION  DEVELOPMENT –I  </a:t>
            </a:r>
          </a:p>
        </p:txBody>
      </p:sp>
      <p:sp>
        <p:nvSpPr>
          <p:cNvPr id="4" name="TextBox 3">
            <a:extLst>
              <a:ext uri="{FF2B5EF4-FFF2-40B4-BE49-F238E27FC236}">
                <a16:creationId xmlns:a16="http://schemas.microsoft.com/office/drawing/2014/main" id="{70A44BAB-9F42-06C9-B08F-C38BE8CEEEB9}"/>
              </a:ext>
            </a:extLst>
          </p:cNvPr>
          <p:cNvSpPr txBox="1"/>
          <p:nvPr/>
        </p:nvSpPr>
        <p:spPr>
          <a:xfrm>
            <a:off x="432656" y="3665299"/>
            <a:ext cx="3022104" cy="830997"/>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Name of Internal Guide </a:t>
            </a:r>
          </a:p>
          <a:p>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Mr</a:t>
            </a:r>
            <a:r>
              <a:rPr lang="en-US" sz="1600" dirty="0">
                <a:latin typeface="Times New Roman" panose="02020603050405020304" pitchFamily="18" charset="0"/>
                <a:cs typeface="Times New Roman" panose="02020603050405020304" pitchFamily="18" charset="0"/>
              </a:rPr>
              <a:t> . KDK AJAY</a:t>
            </a:r>
          </a:p>
          <a:p>
            <a:r>
              <a:rPr lang="en-US" sz="1600" dirty="0">
                <a:latin typeface="Times New Roman" panose="02020603050405020304" pitchFamily="18" charset="0"/>
                <a:cs typeface="Times New Roman" panose="02020603050405020304" pitchFamily="18" charset="0"/>
              </a:rPr>
              <a:t> Assistant  Professor </a:t>
            </a:r>
            <a:endParaRPr lang="en-IN" sz="16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7270DEFA-AAC7-1460-7776-43370E8710AC}"/>
              </a:ext>
            </a:extLst>
          </p:cNvPr>
          <p:cNvSpPr txBox="1"/>
          <p:nvPr/>
        </p:nvSpPr>
        <p:spPr>
          <a:xfrm>
            <a:off x="107504" y="228333"/>
            <a:ext cx="2232248" cy="338554"/>
          </a:xfrm>
          <a:prstGeom prst="rect">
            <a:avLst/>
          </a:prstGeom>
          <a:noFill/>
        </p:spPr>
        <p:txBody>
          <a:bodyPr wrap="square" rtlCol="0">
            <a:spAutoFit/>
          </a:bodyPr>
          <a:lstStyle/>
          <a:p>
            <a:r>
              <a:rPr lang="en-US" sz="1600" dirty="0">
                <a:solidFill>
                  <a:srgbClr val="FFFF00"/>
                </a:solidFill>
                <a:latin typeface="Arial Black" panose="020B0A04020102020204" pitchFamily="34" charset="0"/>
                <a:cs typeface="Times New Roman" panose="02020603050405020304" pitchFamily="18" charset="0"/>
              </a:rPr>
              <a:t>Batch No : 23-A20</a:t>
            </a:r>
          </a:p>
        </p:txBody>
      </p:sp>
      <p:sp>
        <p:nvSpPr>
          <p:cNvPr id="8" name="TextBox 7">
            <a:extLst>
              <a:ext uri="{FF2B5EF4-FFF2-40B4-BE49-F238E27FC236}">
                <a16:creationId xmlns:a16="http://schemas.microsoft.com/office/drawing/2014/main" id="{80124CF5-C89D-CACA-AE8D-41CEC78B5AFC}"/>
              </a:ext>
            </a:extLst>
          </p:cNvPr>
          <p:cNvSpPr txBox="1"/>
          <p:nvPr/>
        </p:nvSpPr>
        <p:spPr>
          <a:xfrm>
            <a:off x="5542992" y="3665299"/>
            <a:ext cx="3493504" cy="1077218"/>
          </a:xfrm>
          <a:prstGeom prst="rect">
            <a:avLst/>
          </a:prstGeom>
          <a:noFill/>
        </p:spPr>
        <p:txBody>
          <a:bodyPr wrap="square" rtlCol="0">
            <a:spAutoFit/>
          </a:bodyPr>
          <a:lstStyle/>
          <a:p>
            <a:r>
              <a:rPr lang="en-US" sz="1600" dirty="0" err="1">
                <a:latin typeface="Times New Roman" panose="02020603050405020304" pitchFamily="18" charset="0"/>
                <a:cs typeface="Times New Roman" panose="02020603050405020304" pitchFamily="18" charset="0"/>
              </a:rPr>
              <a:t>K.Manideep</a:t>
            </a:r>
            <a:r>
              <a:rPr lang="en-US" sz="1600" dirty="0">
                <a:latin typeface="Times New Roman" panose="02020603050405020304" pitchFamily="18" charset="0"/>
                <a:cs typeface="Times New Roman" panose="02020603050405020304" pitchFamily="18" charset="0"/>
              </a:rPr>
              <a:t>  :  23N31A40456</a:t>
            </a:r>
          </a:p>
          <a:p>
            <a:r>
              <a:rPr lang="en-US" sz="1600" dirty="0" err="1">
                <a:latin typeface="Times New Roman" panose="02020603050405020304" pitchFamily="18" charset="0"/>
                <a:cs typeface="Times New Roman" panose="02020603050405020304" pitchFamily="18" charset="0"/>
              </a:rPr>
              <a:t>K.Raj</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kumar</a:t>
            </a:r>
            <a:r>
              <a:rPr lang="en-US" sz="1600" dirty="0">
                <a:latin typeface="Times New Roman" panose="02020603050405020304" pitchFamily="18" charset="0"/>
                <a:cs typeface="Times New Roman" panose="02020603050405020304" pitchFamily="18" charset="0"/>
              </a:rPr>
              <a:t>  : 23N31A40458</a:t>
            </a:r>
          </a:p>
          <a:p>
            <a:r>
              <a:rPr lang="en-US" sz="1600" dirty="0" err="1">
                <a:latin typeface="Times New Roman" panose="02020603050405020304" pitchFamily="18" charset="0"/>
                <a:cs typeface="Times New Roman" panose="02020603050405020304" pitchFamily="18" charset="0"/>
              </a:rPr>
              <a:t>K.Anudeep</a:t>
            </a:r>
            <a:r>
              <a:rPr lang="en-US" sz="1600" dirty="0">
                <a:latin typeface="Times New Roman" panose="02020603050405020304" pitchFamily="18" charset="0"/>
                <a:cs typeface="Times New Roman" panose="02020603050405020304" pitchFamily="18" charset="0"/>
              </a:rPr>
              <a:t>    : 23N31A40459</a:t>
            </a:r>
          </a:p>
          <a:p>
            <a:endParaRPr lang="en-IN"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3626684-2D27-0C17-977C-DFF26722704F}"/>
              </a:ext>
            </a:extLst>
          </p:cNvPr>
          <p:cNvSpPr/>
          <p:nvPr/>
        </p:nvSpPr>
        <p:spPr>
          <a:xfrm>
            <a:off x="0" y="0"/>
            <a:ext cx="9144000" cy="84355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New Roman" pitchFamily="18" charset="0"/>
                <a:cs typeface="Times New Roman" pitchFamily="18" charset="0"/>
              </a:rPr>
              <a:t>Contents</a:t>
            </a:r>
            <a:endParaRPr lang="en-US" sz="2800" dirty="0">
              <a:latin typeface="Arial Black" panose="020B0A04020102020204" pitchFamily="34" charset="0"/>
            </a:endParaRPr>
          </a:p>
        </p:txBody>
      </p:sp>
      <p:sp>
        <p:nvSpPr>
          <p:cNvPr id="5" name="Rectangle 4">
            <a:extLst>
              <a:ext uri="{FF2B5EF4-FFF2-40B4-BE49-F238E27FC236}">
                <a16:creationId xmlns:a16="http://schemas.microsoft.com/office/drawing/2014/main" id="{DC55FFC3-B961-0541-DDDE-A830F00FC115}"/>
              </a:ext>
            </a:extLst>
          </p:cNvPr>
          <p:cNvSpPr/>
          <p:nvPr/>
        </p:nvSpPr>
        <p:spPr>
          <a:xfrm>
            <a:off x="0" y="4886275"/>
            <a:ext cx="9144000" cy="267494"/>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latin typeface="Times New Roman" panose="02020603050405020304" pitchFamily="18" charset="0"/>
                <a:cs typeface="Times New Roman" panose="02020603050405020304" pitchFamily="18" charset="0"/>
              </a:rPr>
              <a:t>MRCET   CAMPUS                                                                                                         Department of Electronics &amp; Communication Engineering </a:t>
            </a:r>
          </a:p>
        </p:txBody>
      </p:sp>
      <p:pic>
        <p:nvPicPr>
          <p:cNvPr id="8" name="Picture 7">
            <a:extLst>
              <a:ext uri="{FF2B5EF4-FFF2-40B4-BE49-F238E27FC236}">
                <a16:creationId xmlns:a16="http://schemas.microsoft.com/office/drawing/2014/main" id="{E7533D81-4858-F442-EB2D-B3F4D9F3A7B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25890" y="0"/>
            <a:ext cx="1218110" cy="1191577"/>
          </a:xfrm>
          <a:prstGeom prst="rect">
            <a:avLst/>
          </a:prstGeom>
        </p:spPr>
      </p:pic>
      <p:sp>
        <p:nvSpPr>
          <p:cNvPr id="2" name="TextBox 1"/>
          <p:cNvSpPr txBox="1"/>
          <p:nvPr/>
        </p:nvSpPr>
        <p:spPr>
          <a:xfrm>
            <a:off x="465638" y="1275606"/>
            <a:ext cx="6482626" cy="3693319"/>
          </a:xfrm>
          <a:prstGeom prst="rect">
            <a:avLst/>
          </a:prstGeom>
          <a:noFill/>
        </p:spPr>
        <p:txBody>
          <a:bodyPr wrap="square" rtlCol="0">
            <a:spAutoFit/>
          </a:bodyPr>
          <a:lstStyle/>
          <a:p>
            <a:pPr marL="342900" indent="-342900">
              <a:buFont typeface="Arial" pitchFamily="34" charset="0"/>
              <a:buChar char="•"/>
            </a:pPr>
            <a:r>
              <a:rPr lang="en-US" dirty="0">
                <a:latin typeface="Times New Roman" pitchFamily="18" charset="0"/>
                <a:cs typeface="Times New Roman" pitchFamily="18" charset="0"/>
              </a:rPr>
              <a:t>INTRODUCTION</a:t>
            </a:r>
          </a:p>
          <a:p>
            <a:pPr marL="342900" indent="-342900">
              <a:buFont typeface="Arial" pitchFamily="34" charset="0"/>
              <a:buChar char="•"/>
            </a:pPr>
            <a:r>
              <a:rPr lang="en-US" dirty="0">
                <a:latin typeface="Times New Roman" pitchFamily="18" charset="0"/>
                <a:cs typeface="Times New Roman" pitchFamily="18" charset="0"/>
              </a:rPr>
              <a:t>ABSTRACT</a:t>
            </a:r>
          </a:p>
          <a:p>
            <a:pPr marL="342900" indent="-342900">
              <a:buFont typeface="Arial" pitchFamily="34" charset="0"/>
              <a:buChar char="•"/>
            </a:pPr>
            <a:r>
              <a:rPr lang="en-US" dirty="0">
                <a:latin typeface="Times New Roman" pitchFamily="18" charset="0"/>
                <a:cs typeface="Times New Roman" pitchFamily="18" charset="0"/>
              </a:rPr>
              <a:t>LITERATURE REVIEW </a:t>
            </a:r>
          </a:p>
          <a:p>
            <a:pPr marL="342900" indent="-342900">
              <a:buFont typeface="Arial" pitchFamily="34" charset="0"/>
              <a:buChar char="•"/>
            </a:pPr>
            <a:r>
              <a:rPr lang="en-US" dirty="0">
                <a:latin typeface="Times New Roman" pitchFamily="18" charset="0"/>
                <a:cs typeface="Times New Roman" pitchFamily="18" charset="0"/>
              </a:rPr>
              <a:t>PROPOSED METHOD BLOCK DIAGRAM</a:t>
            </a:r>
          </a:p>
          <a:p>
            <a:pPr marL="342900" indent="-342900">
              <a:buFont typeface="Arial" pitchFamily="34" charset="0"/>
              <a:buChar char="•"/>
            </a:pPr>
            <a:r>
              <a:rPr lang="en-IN" dirty="0">
                <a:latin typeface="Times New Roman" pitchFamily="18" charset="0"/>
                <a:cs typeface="Times New Roman" pitchFamily="18" charset="0"/>
              </a:rPr>
              <a:t>EXPLANATION</a:t>
            </a:r>
          </a:p>
          <a:p>
            <a:pPr marL="342900" indent="-342900">
              <a:buFont typeface="Arial" pitchFamily="34" charset="0"/>
              <a:buChar char="•"/>
            </a:pPr>
            <a:r>
              <a:rPr lang="en-US" dirty="0">
                <a:latin typeface="Times New Roman" panose="02020603050405020304" pitchFamily="18" charset="0"/>
                <a:cs typeface="Times New Roman" panose="02020603050405020304" pitchFamily="18" charset="0"/>
              </a:rPr>
              <a:t>ALGORITHMS USED</a:t>
            </a:r>
            <a:endParaRPr lang="en-IN" dirty="0">
              <a:latin typeface="Times New Roman" pitchFamily="18" charset="0"/>
              <a:cs typeface="Times New Roman" pitchFamily="18" charset="0"/>
            </a:endParaRPr>
          </a:p>
          <a:p>
            <a:pPr marL="342900" indent="-342900">
              <a:buFont typeface="Arial" pitchFamily="34" charset="0"/>
              <a:buChar char="•"/>
            </a:pPr>
            <a:r>
              <a:rPr lang="en-US" dirty="0">
                <a:latin typeface="Times New Roman" pitchFamily="18" charset="0"/>
                <a:cs typeface="Times New Roman" pitchFamily="18" charset="0"/>
              </a:rPr>
              <a:t>SOFTWARE REQUIREMENTS</a:t>
            </a:r>
          </a:p>
          <a:p>
            <a:pPr marL="342900" indent="-342900">
              <a:buFont typeface="Arial" pitchFamily="34" charset="0"/>
              <a:buChar char="•"/>
            </a:pPr>
            <a:r>
              <a:rPr lang="en-US" dirty="0">
                <a:latin typeface="Times New Roman" pitchFamily="18" charset="0"/>
                <a:cs typeface="Times New Roman" pitchFamily="18" charset="0"/>
              </a:rPr>
              <a:t>ADVANTAGES</a:t>
            </a:r>
          </a:p>
          <a:p>
            <a:pPr marL="342900" indent="-342900">
              <a:buFont typeface="Arial" pitchFamily="34" charset="0"/>
              <a:buChar char="•"/>
            </a:pPr>
            <a:r>
              <a:rPr lang="en-US" dirty="0">
                <a:latin typeface="Times New Roman" pitchFamily="18" charset="0"/>
                <a:cs typeface="Times New Roman" pitchFamily="18" charset="0"/>
              </a:rPr>
              <a:t>RESULTS</a:t>
            </a:r>
          </a:p>
          <a:p>
            <a:pPr marL="342900" indent="-342900">
              <a:buFont typeface="Arial" pitchFamily="34" charset="0"/>
              <a:buChar char="•"/>
            </a:pPr>
            <a:r>
              <a:rPr lang="en-US" dirty="0">
                <a:latin typeface="Times New Roman" pitchFamily="18" charset="0"/>
                <a:cs typeface="Times New Roman" pitchFamily="18" charset="0"/>
              </a:rPr>
              <a:t>CONCLUSION</a:t>
            </a:r>
          </a:p>
          <a:p>
            <a:pPr marL="342900" indent="-342900">
              <a:buFont typeface="Arial" pitchFamily="34" charset="0"/>
              <a:buChar char="•"/>
            </a:pPr>
            <a:r>
              <a:rPr lang="en-US" dirty="0">
                <a:latin typeface="Times New Roman" pitchFamily="18" charset="0"/>
                <a:cs typeface="Times New Roman" pitchFamily="18" charset="0"/>
              </a:rPr>
              <a:t>REFERENCES</a:t>
            </a:r>
          </a:p>
          <a:p>
            <a:pPr marL="342900" indent="-342900"/>
            <a:endParaRPr lang="en-US" dirty="0">
              <a:latin typeface="Times New Roman" pitchFamily="18" charset="0"/>
              <a:cs typeface="Times New Roman" pitchFamily="18" charset="0"/>
            </a:endParaRPr>
          </a:p>
          <a:p>
            <a:pPr marL="342900" indent="-342900"/>
            <a:r>
              <a:rPr lang="en-US" dirty="0">
                <a:latin typeface="Times New Roman" pitchFamily="18" charset="0"/>
                <a:cs typeface="Times New Roman" pitchFamily="18" charset="0"/>
              </a:rPr>
              <a:t> </a:t>
            </a:r>
          </a:p>
        </p:txBody>
      </p:sp>
    </p:spTree>
    <p:extLst>
      <p:ext uri="{BB962C8B-B14F-4D97-AF65-F5344CB8AC3E}">
        <p14:creationId xmlns:p14="http://schemas.microsoft.com/office/powerpoint/2010/main" val="1120862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62DF75E-5E08-D077-8C3C-85694FEC49D9}"/>
              </a:ext>
            </a:extLst>
          </p:cNvPr>
          <p:cNvSpPr/>
          <p:nvPr/>
        </p:nvSpPr>
        <p:spPr>
          <a:xfrm>
            <a:off x="0" y="-5134"/>
            <a:ext cx="9144000" cy="84355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2800" dirty="0">
                <a:latin typeface="Times New Roman" panose="02020603050405020304" pitchFamily="18" charset="0"/>
                <a:cs typeface="Times New Roman" panose="02020603050405020304" pitchFamily="18" charset="0"/>
              </a:rPr>
              <a:t>Introduction </a:t>
            </a:r>
            <a:endParaRPr lang="en-US" sz="2800"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01D5B016-6842-738E-28DD-7FC8A6F6D985}"/>
              </a:ext>
            </a:extLst>
          </p:cNvPr>
          <p:cNvSpPr/>
          <p:nvPr/>
        </p:nvSpPr>
        <p:spPr>
          <a:xfrm>
            <a:off x="0" y="4881141"/>
            <a:ext cx="9144000" cy="267494"/>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1200" dirty="0">
                <a:latin typeface="Times New Roman" panose="02020603050405020304" pitchFamily="18" charset="0"/>
                <a:cs typeface="Times New Roman" panose="02020603050405020304" pitchFamily="18" charset="0"/>
              </a:rPr>
              <a:t>MRCET     CAMPUS                                                                                                      Department of Electronics &amp; Communication Engineering </a:t>
            </a:r>
          </a:p>
        </p:txBody>
      </p:sp>
      <p:pic>
        <p:nvPicPr>
          <p:cNvPr id="6" name="Picture 5">
            <a:extLst>
              <a:ext uri="{FF2B5EF4-FFF2-40B4-BE49-F238E27FC236}">
                <a16:creationId xmlns:a16="http://schemas.microsoft.com/office/drawing/2014/main" id="{06B52FA0-FAC4-8700-ACC7-4B874B80608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25890" y="-5134"/>
            <a:ext cx="1218110" cy="1191577"/>
          </a:xfrm>
          <a:prstGeom prst="rect">
            <a:avLst/>
          </a:prstGeom>
        </p:spPr>
      </p:pic>
      <p:sp>
        <p:nvSpPr>
          <p:cNvPr id="7" name="TextBox 1">
            <a:extLst>
              <a:ext uri="{FF2B5EF4-FFF2-40B4-BE49-F238E27FC236}">
                <a16:creationId xmlns:a16="http://schemas.microsoft.com/office/drawing/2014/main" id="{3BDB5B8E-7777-0741-7A2F-7C4DA77F07D9}"/>
              </a:ext>
            </a:extLst>
          </p:cNvPr>
          <p:cNvSpPr txBox="1"/>
          <p:nvPr/>
        </p:nvSpPr>
        <p:spPr>
          <a:xfrm>
            <a:off x="863588" y="1254612"/>
            <a:ext cx="7416824" cy="286232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dirty="0">
                <a:latin typeface="Times New Roman" panose="02020603050405020304" pitchFamily="18" charset="0"/>
                <a:cs typeface="Times New Roman" panose="02020603050405020304" pitchFamily="18" charset="0"/>
              </a:rPr>
              <a:t>Agriculture, </a:t>
            </a:r>
            <a:r>
              <a:rPr lang="en-IN" dirty="0">
                <a:latin typeface="Times New Roman" panose="02020603050405020304" pitchFamily="18" charset="0"/>
                <a:cs typeface="Times New Roman" panose="02020603050405020304" pitchFamily="18" charset="0"/>
              </a:rPr>
              <a:t>is the foundation of </a:t>
            </a:r>
            <a:r>
              <a:rPr lang="en-US" dirty="0">
                <a:latin typeface="Times New Roman" panose="02020603050405020304" pitchFamily="18" charset="0"/>
                <a:cs typeface="Times New Roman" panose="02020603050405020304" pitchFamily="18" charset="0"/>
              </a:rPr>
              <a:t>global food security, faces the crop diseases, which cause yield losses and economic damage. The core problem is the reliance on traditional diagnosis a manual process that is slow, subjective, and often too late for effective intervention, leading to unavoidable crop loss. To solve this, our project, 'Crop Disease Detection Using Image Classification,' leverages Deep Learning (specifically CNNs) and image processing to build an automated, real-time diagnostic system. Our goal is to accurately and instantly classify diseases directly from leaf images, providing farmers with the precise, early information they need to minimize crop loss, enhance productivity, and secure food supply.</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87771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80258B-5714-BACA-EE68-60D4DD3B31D9}"/>
              </a:ext>
            </a:extLst>
          </p:cNvPr>
          <p:cNvSpPr/>
          <p:nvPr/>
        </p:nvSpPr>
        <p:spPr>
          <a:xfrm>
            <a:off x="0" y="-5134"/>
            <a:ext cx="9144000" cy="84355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800" dirty="0">
                <a:latin typeface="Times New Roman" pitchFamily="18" charset="0"/>
                <a:cs typeface="Times New Roman" pitchFamily="18" charset="0"/>
              </a:rPr>
              <a:t>Abstract</a:t>
            </a:r>
            <a:endParaRPr lang="en-US" sz="2800" dirty="0">
              <a:latin typeface="Arial Black" panose="020B0A04020102020204" pitchFamily="34" charset="0"/>
            </a:endParaRPr>
          </a:p>
        </p:txBody>
      </p:sp>
      <p:sp>
        <p:nvSpPr>
          <p:cNvPr id="5" name="Rectangle 4">
            <a:extLst>
              <a:ext uri="{FF2B5EF4-FFF2-40B4-BE49-F238E27FC236}">
                <a16:creationId xmlns:a16="http://schemas.microsoft.com/office/drawing/2014/main" id="{C560490E-498F-3F24-57F1-3797535CCD7D}"/>
              </a:ext>
            </a:extLst>
          </p:cNvPr>
          <p:cNvSpPr/>
          <p:nvPr/>
        </p:nvSpPr>
        <p:spPr>
          <a:xfrm>
            <a:off x="0" y="4881141"/>
            <a:ext cx="9144000" cy="267494"/>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1200" dirty="0">
                <a:latin typeface="Times New Roman" panose="02020603050405020304" pitchFamily="18" charset="0"/>
                <a:cs typeface="Times New Roman" panose="02020603050405020304" pitchFamily="18" charset="0"/>
              </a:rPr>
              <a:t>MRCET     CAMPUS                                                                                                      Department of Electronics &amp; Communication Engineering </a:t>
            </a:r>
          </a:p>
        </p:txBody>
      </p:sp>
      <p:pic>
        <p:nvPicPr>
          <p:cNvPr id="6" name="Picture 5">
            <a:extLst>
              <a:ext uri="{FF2B5EF4-FFF2-40B4-BE49-F238E27FC236}">
                <a16:creationId xmlns:a16="http://schemas.microsoft.com/office/drawing/2014/main" id="{0FA6251C-0D95-B707-2AE6-DFAC75735CA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25890" y="-5134"/>
            <a:ext cx="1218110" cy="1191577"/>
          </a:xfrm>
          <a:prstGeom prst="rect">
            <a:avLst/>
          </a:prstGeom>
        </p:spPr>
      </p:pic>
      <p:sp>
        <p:nvSpPr>
          <p:cNvPr id="7" name="TextBox 1">
            <a:extLst>
              <a:ext uri="{FF2B5EF4-FFF2-40B4-BE49-F238E27FC236}">
                <a16:creationId xmlns:a16="http://schemas.microsoft.com/office/drawing/2014/main" id="{6CADD7B7-BFBD-252C-7EA6-384C465720F3}"/>
              </a:ext>
            </a:extLst>
          </p:cNvPr>
          <p:cNvSpPr txBox="1"/>
          <p:nvPr/>
        </p:nvSpPr>
        <p:spPr>
          <a:xfrm>
            <a:off x="971600" y="1275606"/>
            <a:ext cx="6732748" cy="286232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latin typeface="Times New Roman" panose="02020603050405020304" pitchFamily="18" charset="0"/>
                <a:cs typeface="Times New Roman" panose="02020603050405020304" pitchFamily="18" charset="0"/>
              </a:rPr>
              <a:t>This technology serves as a digital crop doctor that's available at any time enabling early disease detection before significant damage occurs. By catching problems early, farmers can reduce crop losses, minimize pesticide use, and improve their harvest quality. The system is designed to be user-friendly, making advanced agricultural technology accessible to farmers of all technical backgrounds . This approach modernizes traditional farming practices by bringing laboratory-level disease diagnosis directly to the field through simple image recognition technology.</a:t>
            </a: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290872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314D5-1C27-D041-C98B-68A8E961CDF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A80258B-5714-BACA-EE68-60D4DD3B31D9}"/>
              </a:ext>
            </a:extLst>
          </p:cNvPr>
          <p:cNvSpPr/>
          <p:nvPr/>
        </p:nvSpPr>
        <p:spPr>
          <a:xfrm>
            <a:off x="0" y="0"/>
            <a:ext cx="9144000" cy="84355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New Roman" panose="02020603050405020304" pitchFamily="18" charset="0"/>
                <a:cs typeface="Times New Roman" panose="02020603050405020304" pitchFamily="18" charset="0"/>
              </a:rPr>
              <a:t>Literature Review</a:t>
            </a:r>
          </a:p>
        </p:txBody>
      </p:sp>
      <p:sp>
        <p:nvSpPr>
          <p:cNvPr id="5" name="Rectangle 4">
            <a:extLst>
              <a:ext uri="{FF2B5EF4-FFF2-40B4-BE49-F238E27FC236}">
                <a16:creationId xmlns:a16="http://schemas.microsoft.com/office/drawing/2014/main" id="{C560490E-498F-3F24-57F1-3797535CCD7D}"/>
              </a:ext>
            </a:extLst>
          </p:cNvPr>
          <p:cNvSpPr/>
          <p:nvPr/>
        </p:nvSpPr>
        <p:spPr>
          <a:xfrm>
            <a:off x="0" y="4886275"/>
            <a:ext cx="9144000" cy="267494"/>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latin typeface="Times New Roman" panose="02020603050405020304" pitchFamily="18" charset="0"/>
                <a:cs typeface="Times New Roman" panose="02020603050405020304" pitchFamily="18" charset="0"/>
              </a:rPr>
              <a:t>MRCET     CAMPUS                                                                                                      Department of Electronics &amp; Communication Engineering </a:t>
            </a:r>
          </a:p>
        </p:txBody>
      </p:sp>
      <p:pic>
        <p:nvPicPr>
          <p:cNvPr id="8" name="Picture 7">
            <a:extLst>
              <a:ext uri="{FF2B5EF4-FFF2-40B4-BE49-F238E27FC236}">
                <a16:creationId xmlns:a16="http://schemas.microsoft.com/office/drawing/2014/main" id="{0FA6251C-0D95-B707-2AE6-DFAC75735CA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25890" y="0"/>
            <a:ext cx="1218110" cy="1191577"/>
          </a:xfrm>
          <a:prstGeom prst="rect">
            <a:avLst/>
          </a:prstGeom>
        </p:spPr>
      </p:pic>
      <p:graphicFrame>
        <p:nvGraphicFramePr>
          <p:cNvPr id="7" name="Table 6">
            <a:extLst>
              <a:ext uri="{FF2B5EF4-FFF2-40B4-BE49-F238E27FC236}">
                <a16:creationId xmlns:a16="http://schemas.microsoft.com/office/drawing/2014/main" id="{A9EB695B-0B8D-20C2-3984-C6A3A2F62EAC}"/>
              </a:ext>
            </a:extLst>
          </p:cNvPr>
          <p:cNvGraphicFramePr>
            <a:graphicFrameLocks noGrp="1"/>
          </p:cNvGraphicFramePr>
          <p:nvPr>
            <p:extLst>
              <p:ext uri="{D42A27DB-BD31-4B8C-83A1-F6EECF244321}">
                <p14:modId xmlns:p14="http://schemas.microsoft.com/office/powerpoint/2010/main" val="1983781894"/>
              </p:ext>
            </p:extLst>
          </p:nvPr>
        </p:nvGraphicFramePr>
        <p:xfrm>
          <a:off x="143508" y="1076381"/>
          <a:ext cx="8856984" cy="3766121"/>
        </p:xfrm>
        <a:graphic>
          <a:graphicData uri="http://schemas.openxmlformats.org/drawingml/2006/table">
            <a:tbl>
              <a:tblPr firstRow="1" bandRow="1">
                <a:tableStyleId>{5940675A-B579-460E-94D1-54222C63F5DA}</a:tableStyleId>
              </a:tblPr>
              <a:tblGrid>
                <a:gridCol w="675532">
                  <a:extLst>
                    <a:ext uri="{9D8B030D-6E8A-4147-A177-3AD203B41FA5}">
                      <a16:colId xmlns:a16="http://schemas.microsoft.com/office/drawing/2014/main" val="714956493"/>
                    </a:ext>
                  </a:extLst>
                </a:gridCol>
                <a:gridCol w="1426125">
                  <a:extLst>
                    <a:ext uri="{9D8B030D-6E8A-4147-A177-3AD203B41FA5}">
                      <a16:colId xmlns:a16="http://schemas.microsoft.com/office/drawing/2014/main" val="689742891"/>
                    </a:ext>
                  </a:extLst>
                </a:gridCol>
                <a:gridCol w="1726361">
                  <a:extLst>
                    <a:ext uri="{9D8B030D-6E8A-4147-A177-3AD203B41FA5}">
                      <a16:colId xmlns:a16="http://schemas.microsoft.com/office/drawing/2014/main" val="639900459"/>
                    </a:ext>
                  </a:extLst>
                </a:gridCol>
                <a:gridCol w="1876480">
                  <a:extLst>
                    <a:ext uri="{9D8B030D-6E8A-4147-A177-3AD203B41FA5}">
                      <a16:colId xmlns:a16="http://schemas.microsoft.com/office/drawing/2014/main" val="2430593108"/>
                    </a:ext>
                  </a:extLst>
                </a:gridCol>
                <a:gridCol w="1726361">
                  <a:extLst>
                    <a:ext uri="{9D8B030D-6E8A-4147-A177-3AD203B41FA5}">
                      <a16:colId xmlns:a16="http://schemas.microsoft.com/office/drawing/2014/main" val="3353405538"/>
                    </a:ext>
                  </a:extLst>
                </a:gridCol>
                <a:gridCol w="1426125">
                  <a:extLst>
                    <a:ext uri="{9D8B030D-6E8A-4147-A177-3AD203B41FA5}">
                      <a16:colId xmlns:a16="http://schemas.microsoft.com/office/drawing/2014/main" val="705042037"/>
                    </a:ext>
                  </a:extLst>
                </a:gridCol>
              </a:tblGrid>
              <a:tr h="628362">
                <a:tc>
                  <a:txBody>
                    <a:bodyPr/>
                    <a:lstStyle/>
                    <a:p>
                      <a:r>
                        <a:rPr lang="en-US" dirty="0">
                          <a:latin typeface="Times New Roman" panose="02020603050405020304" pitchFamily="18" charset="0"/>
                          <a:cs typeface="Times New Roman" panose="02020603050405020304" pitchFamily="18" charset="0"/>
                        </a:rPr>
                        <a:t>SNO.</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NAME OF </a:t>
                      </a:r>
                    </a:p>
                    <a:p>
                      <a:r>
                        <a:rPr lang="en-US" dirty="0">
                          <a:latin typeface="Times New Roman" panose="02020603050405020304" pitchFamily="18" charset="0"/>
                          <a:cs typeface="Times New Roman" panose="02020603050405020304" pitchFamily="18" charset="0"/>
                        </a:rPr>
                        <a:t>AUTHOR</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JOURNAL NAME</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TITLE OF </a:t>
                      </a:r>
                    </a:p>
                    <a:p>
                      <a:r>
                        <a:rPr lang="en-US" dirty="0">
                          <a:latin typeface="Times New Roman" panose="02020603050405020304" pitchFamily="18" charset="0"/>
                          <a:cs typeface="Times New Roman" panose="02020603050405020304" pitchFamily="18" charset="0"/>
                        </a:rPr>
                        <a:t>THE PAPER</a:t>
                      </a:r>
                      <a:endParaRPr lang="en-IN" dirty="0">
                        <a:latin typeface="Times New Roman" panose="02020603050405020304" pitchFamily="18" charset="0"/>
                        <a:cs typeface="Times New Roman" panose="02020603050405020304" pitchFamily="18" charset="0"/>
                      </a:endParaRPr>
                    </a:p>
                  </a:txBody>
                  <a:tcPr/>
                </a:tc>
                <a:tc>
                  <a:txBody>
                    <a:bodyPr/>
                    <a:lstStyle/>
                    <a:p>
                      <a:r>
                        <a:rPr lang="en-IN" sz="1800" dirty="0">
                          <a:latin typeface="Times New Roman" panose="02020603050405020304" pitchFamily="18" charset="0"/>
                          <a:cs typeface="Times New Roman" panose="02020603050405020304" pitchFamily="18" charset="0"/>
                        </a:rPr>
                        <a:t>TECHNOLOGY</a:t>
                      </a:r>
                    </a:p>
                  </a:txBody>
                  <a:tcPr/>
                </a:tc>
                <a:tc>
                  <a:txBody>
                    <a:bodyPr/>
                    <a:lstStyle/>
                    <a:p>
                      <a:r>
                        <a:rPr lang="en-US" dirty="0">
                          <a:latin typeface="Times New Roman" panose="02020603050405020304" pitchFamily="18" charset="0"/>
                          <a:cs typeface="Times New Roman" panose="02020603050405020304" pitchFamily="18" charset="0"/>
                        </a:rPr>
                        <a:t>DATASET</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73664664"/>
                  </a:ext>
                </a:extLst>
              </a:tr>
              <a:tr h="1663001">
                <a:tc>
                  <a:txBody>
                    <a:bodyPr/>
                    <a:lstStyle/>
                    <a:p>
                      <a:r>
                        <a:rPr lang="en-US" dirty="0">
                          <a:latin typeface="Times New Roman" panose="02020603050405020304" pitchFamily="18" charset="0"/>
                          <a:cs typeface="Times New Roman" panose="02020603050405020304" pitchFamily="18" charset="0"/>
                        </a:rPr>
                        <a:t>1</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Mohanty </a:t>
                      </a:r>
                    </a:p>
                  </a:txBody>
                  <a:tcPr/>
                </a:tc>
                <a:tc>
                  <a:txBody>
                    <a:bodyPr/>
                    <a:lstStyle/>
                    <a:p>
                      <a:r>
                        <a:rPr lang="en-IN" dirty="0">
                          <a:latin typeface="Times New Roman" panose="02020603050405020304" pitchFamily="18" charset="0"/>
                          <a:cs typeface="Times New Roman" panose="02020603050405020304" pitchFamily="18" charset="0"/>
                        </a:rPr>
                        <a:t>Frontiers in Plant Science</a:t>
                      </a:r>
                    </a:p>
                  </a:txBody>
                  <a:tcPr/>
                </a:tc>
                <a:tc>
                  <a:txBody>
                    <a:bodyPr/>
                    <a:lstStyle/>
                    <a:p>
                      <a:r>
                        <a:rPr lang="en-US" dirty="0">
                          <a:latin typeface="Times New Roman" panose="02020603050405020304" pitchFamily="18" charset="0"/>
                          <a:cs typeface="Times New Roman" panose="02020603050405020304" pitchFamily="18" charset="0"/>
                        </a:rPr>
                        <a:t>Using Deep Learning for Image-Based Plant Disease Detection"</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Deep Convolutional Neural Networks (CNNs)</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err="1">
                          <a:latin typeface="Times New Roman" panose="02020603050405020304" pitchFamily="18" charset="0"/>
                          <a:cs typeface="Times New Roman" panose="02020603050405020304" pitchFamily="18" charset="0"/>
                        </a:rPr>
                        <a:t>PlantVillage</a:t>
                      </a:r>
                      <a:r>
                        <a:rPr lang="en-US" dirty="0">
                          <a:latin typeface="Times New Roman" panose="02020603050405020304" pitchFamily="18" charset="0"/>
                          <a:cs typeface="Times New Roman" panose="02020603050405020304" pitchFamily="18" charset="0"/>
                        </a:rPr>
                        <a:t> Dataset (54,306 images of 14 crop species)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890326712"/>
                  </a:ext>
                </a:extLst>
              </a:tr>
              <a:tr h="1436255">
                <a:tc>
                  <a:txBody>
                    <a:bodyPr/>
                    <a:lstStyle/>
                    <a:p>
                      <a:r>
                        <a:rPr lang="en-US" dirty="0">
                          <a:latin typeface="Times New Roman" panose="02020603050405020304" pitchFamily="18" charset="0"/>
                          <a:cs typeface="Times New Roman" panose="02020603050405020304" pitchFamily="18" charset="0"/>
                        </a:rPr>
                        <a:t>2</a:t>
                      </a:r>
                      <a:endParaRPr lang="en-IN" dirty="0">
                        <a:latin typeface="Times New Roman" panose="02020603050405020304" pitchFamily="18" charset="0"/>
                        <a:cs typeface="Times New Roman" panose="02020603050405020304" pitchFamily="18" charset="0"/>
                      </a:endParaRPr>
                    </a:p>
                  </a:txBody>
                  <a:tcPr/>
                </a:tc>
                <a:tc>
                  <a:txBody>
                    <a:bodyPr/>
                    <a:lstStyle/>
                    <a:p>
                      <a:pPr>
                        <a:buNone/>
                      </a:pPr>
                      <a:r>
                        <a:rPr lang="en-IN" dirty="0">
                          <a:latin typeface="Times New Roman" panose="02020603050405020304" pitchFamily="18" charset="0"/>
                          <a:cs typeface="Times New Roman" panose="02020603050405020304" pitchFamily="18" charset="0"/>
                        </a:rPr>
                        <a:t>Ahamed </a:t>
                      </a:r>
                    </a:p>
                  </a:txBody>
                  <a:tcPr anchor="ctr"/>
                </a:tc>
                <a:tc>
                  <a:txBody>
                    <a:bodyPr/>
                    <a:lstStyle/>
                    <a:p>
                      <a:pPr>
                        <a:buNone/>
                      </a:pPr>
                      <a:r>
                        <a:rPr lang="en-IN">
                          <a:latin typeface="Times New Roman" panose="02020603050405020304" pitchFamily="18" charset="0"/>
                          <a:cs typeface="Times New Roman" panose="02020603050405020304" pitchFamily="18" charset="0"/>
                        </a:rPr>
                        <a:t>International Journal of Computer Applications</a:t>
                      </a:r>
                    </a:p>
                  </a:txBody>
                  <a:tcPr anchor="ctr"/>
                </a:tc>
                <a:tc>
                  <a:txBody>
                    <a:bodyPr/>
                    <a:lstStyle/>
                    <a:p>
                      <a:pPr>
                        <a:buNone/>
                      </a:pPr>
                      <a:r>
                        <a:rPr lang="en-US">
                          <a:latin typeface="Times New Roman" panose="02020603050405020304" pitchFamily="18" charset="0"/>
                          <a:cs typeface="Times New Roman" panose="02020603050405020304" pitchFamily="18" charset="0"/>
                        </a:rPr>
                        <a:t>"Plant Disease Detection using Image Processing"</a:t>
                      </a:r>
                    </a:p>
                  </a:txBody>
                  <a:tcPr anchor="ctr"/>
                </a:tc>
                <a:tc>
                  <a:txBody>
                    <a:bodyPr/>
                    <a:lstStyle/>
                    <a:p>
                      <a:pPr>
                        <a:buNone/>
                      </a:pPr>
                      <a:r>
                        <a:rPr lang="en-US" dirty="0">
                          <a:latin typeface="Times New Roman" panose="02020603050405020304" pitchFamily="18" charset="0"/>
                          <a:cs typeface="Times New Roman" panose="02020603050405020304" pitchFamily="18" charset="0"/>
                        </a:rPr>
                        <a:t>K-means clustering, color-based segmentation, texture analysis</a:t>
                      </a:r>
                    </a:p>
                  </a:txBody>
                  <a:tcPr anchor="ctr"/>
                </a:tc>
                <a:tc>
                  <a:txBody>
                    <a:bodyPr/>
                    <a:lstStyle/>
                    <a:p>
                      <a:pPr>
                        <a:buNone/>
                      </a:pPr>
                      <a:r>
                        <a:rPr lang="en-IN" dirty="0">
                          <a:latin typeface="Times New Roman" panose="02020603050405020304" pitchFamily="18" charset="0"/>
                          <a:cs typeface="Times New Roman" panose="02020603050405020304" pitchFamily="18" charset="0"/>
                        </a:rPr>
                        <a:t>Publicly available plant image datasets</a:t>
                      </a:r>
                    </a:p>
                  </a:txBody>
                  <a:tcPr anchor="ctr"/>
                </a:tc>
                <a:extLst>
                  <a:ext uri="{0D108BD9-81ED-4DB2-BD59-A6C34878D82A}">
                    <a16:rowId xmlns:a16="http://schemas.microsoft.com/office/drawing/2014/main" val="1085571082"/>
                  </a:ext>
                </a:extLst>
              </a:tr>
            </a:tbl>
          </a:graphicData>
        </a:graphic>
      </p:graphicFrame>
    </p:spTree>
    <p:extLst>
      <p:ext uri="{BB962C8B-B14F-4D97-AF65-F5344CB8AC3E}">
        <p14:creationId xmlns:p14="http://schemas.microsoft.com/office/powerpoint/2010/main" val="4720330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14D5B-E12A-900B-0955-45B3A9DEBCD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CBA7F55-625C-5A70-C458-E9DDFED85B19}"/>
              </a:ext>
            </a:extLst>
          </p:cNvPr>
          <p:cNvSpPr/>
          <p:nvPr/>
        </p:nvSpPr>
        <p:spPr>
          <a:xfrm>
            <a:off x="0" y="0"/>
            <a:ext cx="9144000" cy="84355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gn="ctr"/>
            <a:r>
              <a:rPr lang="en-US" sz="2800" dirty="0">
                <a:latin typeface="Times New Roman" pitchFamily="18" charset="0"/>
                <a:cs typeface="Times New Roman" pitchFamily="18" charset="0"/>
              </a:rPr>
              <a:t>Proposed Method Block Diagram</a:t>
            </a:r>
          </a:p>
        </p:txBody>
      </p:sp>
      <p:sp>
        <p:nvSpPr>
          <p:cNvPr id="5" name="Rectangle 4">
            <a:extLst>
              <a:ext uri="{FF2B5EF4-FFF2-40B4-BE49-F238E27FC236}">
                <a16:creationId xmlns:a16="http://schemas.microsoft.com/office/drawing/2014/main" id="{6468BF80-CB16-87F0-CCCA-36D034B62604}"/>
              </a:ext>
            </a:extLst>
          </p:cNvPr>
          <p:cNvSpPr/>
          <p:nvPr/>
        </p:nvSpPr>
        <p:spPr>
          <a:xfrm>
            <a:off x="0" y="4886275"/>
            <a:ext cx="9144000" cy="267494"/>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latin typeface="Times New Roman" panose="02020603050405020304" pitchFamily="18" charset="0"/>
                <a:cs typeface="Times New Roman" panose="02020603050405020304" pitchFamily="18" charset="0"/>
              </a:rPr>
              <a:t>MRCET   CAMPUS                                                                                                         Department of Electronics &amp; Communication Engineering </a:t>
            </a:r>
          </a:p>
        </p:txBody>
      </p:sp>
      <p:pic>
        <p:nvPicPr>
          <p:cNvPr id="8" name="Picture 7">
            <a:extLst>
              <a:ext uri="{FF2B5EF4-FFF2-40B4-BE49-F238E27FC236}">
                <a16:creationId xmlns:a16="http://schemas.microsoft.com/office/drawing/2014/main" id="{B7639047-2865-1E7D-2BFF-3B6AB8E17D6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25890" y="0"/>
            <a:ext cx="1218110" cy="1191577"/>
          </a:xfrm>
          <a:prstGeom prst="rect">
            <a:avLst/>
          </a:prstGeom>
        </p:spPr>
      </p:pic>
      <p:sp>
        <p:nvSpPr>
          <p:cNvPr id="2" name="Rectangle 1">
            <a:extLst>
              <a:ext uri="{FF2B5EF4-FFF2-40B4-BE49-F238E27FC236}">
                <a16:creationId xmlns:a16="http://schemas.microsoft.com/office/drawing/2014/main" id="{6A643779-BFE0-3CC9-B9A7-C45FBCC276D4}"/>
              </a:ext>
            </a:extLst>
          </p:cNvPr>
          <p:cNvSpPr/>
          <p:nvPr/>
        </p:nvSpPr>
        <p:spPr>
          <a:xfrm>
            <a:off x="725571" y="2397740"/>
            <a:ext cx="864096" cy="467176"/>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crop</a:t>
            </a:r>
            <a:endParaRPr lang="en-IN" dirty="0">
              <a:latin typeface="Times New Roman" panose="02020603050405020304" pitchFamily="18" charset="0"/>
              <a:cs typeface="Times New Roman" panose="02020603050405020304" pitchFamily="18" charset="0"/>
            </a:endParaRPr>
          </a:p>
        </p:txBody>
      </p:sp>
      <p:sp>
        <p:nvSpPr>
          <p:cNvPr id="7" name="Arrow: Right 6">
            <a:extLst>
              <a:ext uri="{FF2B5EF4-FFF2-40B4-BE49-F238E27FC236}">
                <a16:creationId xmlns:a16="http://schemas.microsoft.com/office/drawing/2014/main" id="{49086F18-A21F-90F9-8FC7-C4F854A200A0}"/>
              </a:ext>
            </a:extLst>
          </p:cNvPr>
          <p:cNvSpPr/>
          <p:nvPr/>
        </p:nvSpPr>
        <p:spPr>
          <a:xfrm>
            <a:off x="1641116" y="2480126"/>
            <a:ext cx="648072" cy="267494"/>
          </a:xfrm>
          <a:prstGeom prst="rightArrow">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pic>
        <p:nvPicPr>
          <p:cNvPr id="10" name="Graphic 9" descr="Database">
            <a:extLst>
              <a:ext uri="{FF2B5EF4-FFF2-40B4-BE49-F238E27FC236}">
                <a16:creationId xmlns:a16="http://schemas.microsoft.com/office/drawing/2014/main" id="{47377B7F-21F4-2A2B-7E00-1B423E17042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309980" y="2089799"/>
            <a:ext cx="914400" cy="1048147"/>
          </a:xfrm>
          <a:prstGeom prst="rect">
            <a:avLst/>
          </a:prstGeom>
        </p:spPr>
      </p:pic>
      <p:sp>
        <p:nvSpPr>
          <p:cNvPr id="11" name="Arrow: Right 10">
            <a:extLst>
              <a:ext uri="{FF2B5EF4-FFF2-40B4-BE49-F238E27FC236}">
                <a16:creationId xmlns:a16="http://schemas.microsoft.com/office/drawing/2014/main" id="{27A6E809-E436-A44C-69D8-39D9D7F0B3FB}"/>
              </a:ext>
            </a:extLst>
          </p:cNvPr>
          <p:cNvSpPr/>
          <p:nvPr/>
        </p:nvSpPr>
        <p:spPr>
          <a:xfrm>
            <a:off x="3151477" y="2480126"/>
            <a:ext cx="792088" cy="267494"/>
          </a:xfrm>
          <a:prstGeom prst="rightArrow">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pic>
        <p:nvPicPr>
          <p:cNvPr id="13" name="Graphic 12" descr="Gears">
            <a:extLst>
              <a:ext uri="{FF2B5EF4-FFF2-40B4-BE49-F238E27FC236}">
                <a16:creationId xmlns:a16="http://schemas.microsoft.com/office/drawing/2014/main" id="{9F1D586F-06F5-076E-E66F-D00FE29E247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820509" y="2223546"/>
            <a:ext cx="914400" cy="914400"/>
          </a:xfrm>
          <a:prstGeom prst="rect">
            <a:avLst/>
          </a:prstGeom>
        </p:spPr>
      </p:pic>
      <p:sp>
        <p:nvSpPr>
          <p:cNvPr id="14" name="Arrow: Right 13">
            <a:extLst>
              <a:ext uri="{FF2B5EF4-FFF2-40B4-BE49-F238E27FC236}">
                <a16:creationId xmlns:a16="http://schemas.microsoft.com/office/drawing/2014/main" id="{53E4A633-A416-C03E-51D2-FA1F6F5A5975}"/>
              </a:ext>
            </a:extLst>
          </p:cNvPr>
          <p:cNvSpPr/>
          <p:nvPr/>
        </p:nvSpPr>
        <p:spPr>
          <a:xfrm>
            <a:off x="4640948" y="2497581"/>
            <a:ext cx="792088" cy="267494"/>
          </a:xfrm>
          <a:prstGeom prst="rightArrow">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6" name="Arrow: Right 15">
            <a:extLst>
              <a:ext uri="{FF2B5EF4-FFF2-40B4-BE49-F238E27FC236}">
                <a16:creationId xmlns:a16="http://schemas.microsoft.com/office/drawing/2014/main" id="{83DE249E-9765-A408-587C-90FD27F65EE6}"/>
              </a:ext>
            </a:extLst>
          </p:cNvPr>
          <p:cNvSpPr/>
          <p:nvPr/>
        </p:nvSpPr>
        <p:spPr>
          <a:xfrm>
            <a:off x="6135768" y="2497581"/>
            <a:ext cx="694323" cy="267494"/>
          </a:xfrm>
          <a:prstGeom prst="rightArrow">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7" name="Callout: Down Arrow 16">
            <a:extLst>
              <a:ext uri="{FF2B5EF4-FFF2-40B4-BE49-F238E27FC236}">
                <a16:creationId xmlns:a16="http://schemas.microsoft.com/office/drawing/2014/main" id="{886B4F9D-3487-D6A5-6B9B-2C367B6B3AA8}"/>
              </a:ext>
            </a:extLst>
          </p:cNvPr>
          <p:cNvSpPr/>
          <p:nvPr/>
        </p:nvSpPr>
        <p:spPr>
          <a:xfrm>
            <a:off x="7013142" y="1676784"/>
            <a:ext cx="1519298" cy="2047094"/>
          </a:xfrm>
          <a:prstGeom prst="downArrowCallou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Image Segmentation + Feature Extraction</a:t>
            </a:r>
          </a:p>
        </p:txBody>
      </p:sp>
      <p:sp>
        <p:nvSpPr>
          <p:cNvPr id="18" name="Oval 17">
            <a:extLst>
              <a:ext uri="{FF2B5EF4-FFF2-40B4-BE49-F238E27FC236}">
                <a16:creationId xmlns:a16="http://schemas.microsoft.com/office/drawing/2014/main" id="{91FD5BAF-13F2-946A-8356-8CEEC7FC5497}"/>
              </a:ext>
            </a:extLst>
          </p:cNvPr>
          <p:cNvSpPr/>
          <p:nvPr/>
        </p:nvSpPr>
        <p:spPr>
          <a:xfrm>
            <a:off x="1763688" y="1218324"/>
            <a:ext cx="1218110" cy="737214"/>
          </a:xfrm>
          <a:prstGeom prst="ellipse">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Image</a:t>
            </a:r>
          </a:p>
        </p:txBody>
      </p:sp>
      <p:sp>
        <p:nvSpPr>
          <p:cNvPr id="26" name="Freeform: Shape 25">
            <a:extLst>
              <a:ext uri="{FF2B5EF4-FFF2-40B4-BE49-F238E27FC236}">
                <a16:creationId xmlns:a16="http://schemas.microsoft.com/office/drawing/2014/main" id="{824DA4B2-F5C5-0B1A-B057-40ED3AAA4608}"/>
              </a:ext>
            </a:extLst>
          </p:cNvPr>
          <p:cNvSpPr/>
          <p:nvPr/>
        </p:nvSpPr>
        <p:spPr>
          <a:xfrm>
            <a:off x="2064477" y="1911822"/>
            <a:ext cx="449422" cy="423334"/>
          </a:xfrm>
          <a:custGeom>
            <a:avLst/>
            <a:gdLst>
              <a:gd name="connsiteX0" fmla="*/ 0 w 449422"/>
              <a:gd name="connsiteY0" fmla="*/ 0 h 423334"/>
              <a:gd name="connsiteX1" fmla="*/ 33866 w 449422"/>
              <a:gd name="connsiteY1" fmla="*/ 186267 h 423334"/>
              <a:gd name="connsiteX2" fmla="*/ 84666 w 449422"/>
              <a:gd name="connsiteY2" fmla="*/ 220134 h 423334"/>
              <a:gd name="connsiteX3" fmla="*/ 143933 w 449422"/>
              <a:gd name="connsiteY3" fmla="*/ 254000 h 423334"/>
              <a:gd name="connsiteX4" fmla="*/ 270933 w 449422"/>
              <a:gd name="connsiteY4" fmla="*/ 270934 h 423334"/>
              <a:gd name="connsiteX5" fmla="*/ 355600 w 449422"/>
              <a:gd name="connsiteY5" fmla="*/ 296334 h 423334"/>
              <a:gd name="connsiteX6" fmla="*/ 423333 w 449422"/>
              <a:gd name="connsiteY6" fmla="*/ 338667 h 423334"/>
              <a:gd name="connsiteX7" fmla="*/ 431800 w 449422"/>
              <a:gd name="connsiteY7" fmla="*/ 364067 h 423334"/>
              <a:gd name="connsiteX8" fmla="*/ 448733 w 449422"/>
              <a:gd name="connsiteY8" fmla="*/ 406400 h 423334"/>
              <a:gd name="connsiteX9" fmla="*/ 448733 w 449422"/>
              <a:gd name="connsiteY9" fmla="*/ 423334 h 423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9422" h="423334">
                <a:moveTo>
                  <a:pt x="0" y="0"/>
                </a:moveTo>
                <a:cubicBezTo>
                  <a:pt x="4250" y="36123"/>
                  <a:pt x="3541" y="137746"/>
                  <a:pt x="33866" y="186267"/>
                </a:cubicBezTo>
                <a:cubicBezTo>
                  <a:pt x="55752" y="221284"/>
                  <a:pt x="55230" y="205416"/>
                  <a:pt x="84666" y="220134"/>
                </a:cubicBezTo>
                <a:cubicBezTo>
                  <a:pt x="106597" y="231099"/>
                  <a:pt x="118294" y="248602"/>
                  <a:pt x="143933" y="254000"/>
                </a:cubicBezTo>
                <a:cubicBezTo>
                  <a:pt x="185725" y="262798"/>
                  <a:pt x="228748" y="264273"/>
                  <a:pt x="270933" y="270934"/>
                </a:cubicBezTo>
                <a:cubicBezTo>
                  <a:pt x="289758" y="273906"/>
                  <a:pt x="343397" y="290787"/>
                  <a:pt x="355600" y="296334"/>
                </a:cubicBezTo>
                <a:cubicBezTo>
                  <a:pt x="371644" y="303627"/>
                  <a:pt x="405891" y="327040"/>
                  <a:pt x="423333" y="338667"/>
                </a:cubicBezTo>
                <a:cubicBezTo>
                  <a:pt x="426155" y="347134"/>
                  <a:pt x="428666" y="355711"/>
                  <a:pt x="431800" y="364067"/>
                </a:cubicBezTo>
                <a:cubicBezTo>
                  <a:pt x="437136" y="378297"/>
                  <a:pt x="444558" y="391787"/>
                  <a:pt x="448733" y="406400"/>
                </a:cubicBezTo>
                <a:cubicBezTo>
                  <a:pt x="450284" y="411827"/>
                  <a:pt x="448733" y="417689"/>
                  <a:pt x="448733" y="423334"/>
                </a:cubicBezTo>
              </a:path>
            </a:pathLst>
          </a:cu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IN">
              <a:ln w="0"/>
              <a:effectLst>
                <a:outerShdw blurRad="38100" dist="19050" dir="2700000" algn="tl" rotWithShape="0">
                  <a:schemeClr val="dk1">
                    <a:alpha val="40000"/>
                  </a:schemeClr>
                </a:outerShdw>
              </a:effectLst>
            </a:endParaRPr>
          </a:p>
        </p:txBody>
      </p:sp>
      <p:sp>
        <p:nvSpPr>
          <p:cNvPr id="29" name="Oval 28">
            <a:extLst>
              <a:ext uri="{FF2B5EF4-FFF2-40B4-BE49-F238E27FC236}">
                <a16:creationId xmlns:a16="http://schemas.microsoft.com/office/drawing/2014/main" id="{CB2C7E9C-1D2B-BC1F-C214-1877910F657B}"/>
              </a:ext>
            </a:extLst>
          </p:cNvPr>
          <p:cNvSpPr/>
          <p:nvPr/>
        </p:nvSpPr>
        <p:spPr>
          <a:xfrm>
            <a:off x="3143476" y="1172375"/>
            <a:ext cx="2209911" cy="792791"/>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Image Preprocessing</a:t>
            </a:r>
          </a:p>
        </p:txBody>
      </p:sp>
      <p:sp>
        <p:nvSpPr>
          <p:cNvPr id="33" name="Arc 32">
            <a:extLst>
              <a:ext uri="{FF2B5EF4-FFF2-40B4-BE49-F238E27FC236}">
                <a16:creationId xmlns:a16="http://schemas.microsoft.com/office/drawing/2014/main" id="{9D1D3955-896B-C03E-1661-4759D5658369}"/>
              </a:ext>
            </a:extLst>
          </p:cNvPr>
          <p:cNvSpPr/>
          <p:nvPr/>
        </p:nvSpPr>
        <p:spPr>
          <a:xfrm>
            <a:off x="3820509" y="1955537"/>
            <a:ext cx="449422" cy="745642"/>
          </a:xfrm>
          <a:prstGeom prst="arc">
            <a:avLst>
              <a:gd name="adj1" fmla="val 16200000"/>
              <a:gd name="adj2" fmla="val 708058"/>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r"/>
            <a:endParaRPr lang="en-IN" dirty="0">
              <a:ln w="0"/>
              <a:effectLst>
                <a:outerShdw blurRad="38100" dist="19050" dir="2700000" algn="tl" rotWithShape="0">
                  <a:schemeClr val="dk1">
                    <a:alpha val="40000"/>
                  </a:schemeClr>
                </a:outerShdw>
              </a:effectLst>
            </a:endParaRPr>
          </a:p>
        </p:txBody>
      </p:sp>
      <p:sp>
        <p:nvSpPr>
          <p:cNvPr id="34" name="Oval 33">
            <a:extLst>
              <a:ext uri="{FF2B5EF4-FFF2-40B4-BE49-F238E27FC236}">
                <a16:creationId xmlns:a16="http://schemas.microsoft.com/office/drawing/2014/main" id="{1CDA7381-4476-F792-3778-6D3EA28017B5}"/>
              </a:ext>
            </a:extLst>
          </p:cNvPr>
          <p:cNvSpPr/>
          <p:nvPr/>
        </p:nvSpPr>
        <p:spPr>
          <a:xfrm>
            <a:off x="4722746" y="3189420"/>
            <a:ext cx="1995783" cy="914401"/>
          </a:xfrm>
          <a:prstGeom prst="ellipse">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Leaf Images Dataset</a:t>
            </a:r>
          </a:p>
        </p:txBody>
      </p:sp>
      <p:sp>
        <p:nvSpPr>
          <p:cNvPr id="35" name="Arc 34">
            <a:extLst>
              <a:ext uri="{FF2B5EF4-FFF2-40B4-BE49-F238E27FC236}">
                <a16:creationId xmlns:a16="http://schemas.microsoft.com/office/drawing/2014/main" id="{FCD72C54-05D1-D85D-E593-3DDDF597E7EC}"/>
              </a:ext>
            </a:extLst>
          </p:cNvPr>
          <p:cNvSpPr/>
          <p:nvPr/>
        </p:nvSpPr>
        <p:spPr>
          <a:xfrm>
            <a:off x="5148064" y="3028654"/>
            <a:ext cx="1076315" cy="517074"/>
          </a:xfrm>
          <a:prstGeom prst="arc">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IN"/>
          </a:p>
        </p:txBody>
      </p:sp>
      <p:sp>
        <p:nvSpPr>
          <p:cNvPr id="36" name="Rectangle 35">
            <a:extLst>
              <a:ext uri="{FF2B5EF4-FFF2-40B4-BE49-F238E27FC236}">
                <a16:creationId xmlns:a16="http://schemas.microsoft.com/office/drawing/2014/main" id="{A47D1E35-E9C3-1C80-08AD-D6D93F85F528}"/>
              </a:ext>
            </a:extLst>
          </p:cNvPr>
          <p:cNvSpPr/>
          <p:nvPr/>
        </p:nvSpPr>
        <p:spPr>
          <a:xfrm>
            <a:off x="7236296" y="3810855"/>
            <a:ext cx="1224136" cy="402511"/>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a:t>Output</a:t>
            </a:r>
          </a:p>
        </p:txBody>
      </p:sp>
      <p:sp>
        <p:nvSpPr>
          <p:cNvPr id="12" name="Graphic 8" descr="Leaf with solid fill">
            <a:extLst>
              <a:ext uri="{FF2B5EF4-FFF2-40B4-BE49-F238E27FC236}">
                <a16:creationId xmlns:a16="http://schemas.microsoft.com/office/drawing/2014/main" id="{1B54C6D3-54A6-F5A0-9247-ECD62941972E}"/>
              </a:ext>
            </a:extLst>
          </p:cNvPr>
          <p:cNvSpPr/>
          <p:nvPr/>
        </p:nvSpPr>
        <p:spPr>
          <a:xfrm>
            <a:off x="2328001" y="2336560"/>
            <a:ext cx="676275" cy="648652"/>
          </a:xfrm>
          <a:custGeom>
            <a:avLst/>
            <a:gdLst>
              <a:gd name="connsiteX0" fmla="*/ 314325 w 676275"/>
              <a:gd name="connsiteY0" fmla="*/ 57150 h 648652"/>
              <a:gd name="connsiteX1" fmla="*/ 47625 w 676275"/>
              <a:gd name="connsiteY1" fmla="*/ 323850 h 648652"/>
              <a:gd name="connsiteX2" fmla="*/ 80963 w 676275"/>
              <a:gd name="connsiteY2" fmla="*/ 452438 h 648652"/>
              <a:gd name="connsiteX3" fmla="*/ 146685 w 676275"/>
              <a:gd name="connsiteY3" fmla="*/ 387668 h 648652"/>
              <a:gd name="connsiteX4" fmla="*/ 336233 w 676275"/>
              <a:gd name="connsiteY4" fmla="*/ 232410 h 648652"/>
              <a:gd name="connsiteX5" fmla="*/ 348615 w 676275"/>
              <a:gd name="connsiteY5" fmla="*/ 227648 h 648652"/>
              <a:gd name="connsiteX6" fmla="*/ 367665 w 676275"/>
              <a:gd name="connsiteY6" fmla="*/ 246698 h 648652"/>
              <a:gd name="connsiteX7" fmla="*/ 360045 w 676275"/>
              <a:gd name="connsiteY7" fmla="*/ 261938 h 648652"/>
              <a:gd name="connsiteX8" fmla="*/ 360045 w 676275"/>
              <a:gd name="connsiteY8" fmla="*/ 261938 h 648652"/>
              <a:gd name="connsiteX9" fmla="*/ 86678 w 676275"/>
              <a:gd name="connsiteY9" fmla="*/ 502920 h 648652"/>
              <a:gd name="connsiteX10" fmla="*/ 71438 w 676275"/>
              <a:gd name="connsiteY10" fmla="*/ 520065 h 648652"/>
              <a:gd name="connsiteX11" fmla="*/ 71438 w 676275"/>
              <a:gd name="connsiteY11" fmla="*/ 520065 h 648652"/>
              <a:gd name="connsiteX12" fmla="*/ 0 w 676275"/>
              <a:gd name="connsiteY12" fmla="*/ 648653 h 648652"/>
              <a:gd name="connsiteX13" fmla="*/ 57150 w 676275"/>
              <a:gd name="connsiteY13" fmla="*/ 648653 h 648652"/>
              <a:gd name="connsiteX14" fmla="*/ 140970 w 676275"/>
              <a:gd name="connsiteY14" fmla="*/ 527685 h 648652"/>
              <a:gd name="connsiteX15" fmla="*/ 314325 w 676275"/>
              <a:gd name="connsiteY15" fmla="*/ 591503 h 648652"/>
              <a:gd name="connsiteX16" fmla="*/ 446723 w 676275"/>
              <a:gd name="connsiteY16" fmla="*/ 556260 h 648652"/>
              <a:gd name="connsiteX17" fmla="*/ 446723 w 676275"/>
              <a:gd name="connsiteY17" fmla="*/ 556260 h 648652"/>
              <a:gd name="connsiteX18" fmla="*/ 676275 w 676275"/>
              <a:gd name="connsiteY18" fmla="*/ 0 h 648652"/>
              <a:gd name="connsiteX19" fmla="*/ 314325 w 676275"/>
              <a:gd name="connsiteY19" fmla="*/ 57150 h 648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76275" h="648652">
                <a:moveTo>
                  <a:pt x="314325" y="57150"/>
                </a:moveTo>
                <a:cubicBezTo>
                  <a:pt x="166688" y="57150"/>
                  <a:pt x="47625" y="176213"/>
                  <a:pt x="47625" y="323850"/>
                </a:cubicBezTo>
                <a:cubicBezTo>
                  <a:pt x="47625" y="370523"/>
                  <a:pt x="60007" y="414338"/>
                  <a:pt x="80963" y="452438"/>
                </a:cubicBezTo>
                <a:cubicBezTo>
                  <a:pt x="100965" y="431483"/>
                  <a:pt x="122873" y="410528"/>
                  <a:pt x="146685" y="387668"/>
                </a:cubicBezTo>
                <a:cubicBezTo>
                  <a:pt x="206693" y="331470"/>
                  <a:pt x="277178" y="274320"/>
                  <a:pt x="336233" y="232410"/>
                </a:cubicBezTo>
                <a:cubicBezTo>
                  <a:pt x="340043" y="229552"/>
                  <a:pt x="343853" y="227648"/>
                  <a:pt x="348615" y="227648"/>
                </a:cubicBezTo>
                <a:cubicBezTo>
                  <a:pt x="359093" y="227648"/>
                  <a:pt x="367665" y="236220"/>
                  <a:pt x="367665" y="246698"/>
                </a:cubicBezTo>
                <a:cubicBezTo>
                  <a:pt x="367665" y="253365"/>
                  <a:pt x="364808" y="258127"/>
                  <a:pt x="360045" y="261938"/>
                </a:cubicBezTo>
                <a:lnTo>
                  <a:pt x="360045" y="261938"/>
                </a:lnTo>
                <a:cubicBezTo>
                  <a:pt x="275273" y="322898"/>
                  <a:pt x="162878" y="417195"/>
                  <a:pt x="86678" y="502920"/>
                </a:cubicBezTo>
                <a:cubicBezTo>
                  <a:pt x="86678" y="502920"/>
                  <a:pt x="76200" y="514350"/>
                  <a:pt x="71438" y="520065"/>
                </a:cubicBezTo>
                <a:lnTo>
                  <a:pt x="71438" y="520065"/>
                </a:lnTo>
                <a:cubicBezTo>
                  <a:pt x="28575" y="570548"/>
                  <a:pt x="0" y="616268"/>
                  <a:pt x="0" y="648653"/>
                </a:cubicBezTo>
                <a:lnTo>
                  <a:pt x="57150" y="648653"/>
                </a:lnTo>
                <a:cubicBezTo>
                  <a:pt x="57150" y="627698"/>
                  <a:pt x="90488" y="581978"/>
                  <a:pt x="140970" y="527685"/>
                </a:cubicBezTo>
                <a:cubicBezTo>
                  <a:pt x="187643" y="567690"/>
                  <a:pt x="247650" y="591503"/>
                  <a:pt x="314325" y="591503"/>
                </a:cubicBezTo>
                <a:cubicBezTo>
                  <a:pt x="361950" y="591503"/>
                  <a:pt x="407670" y="579120"/>
                  <a:pt x="446723" y="556260"/>
                </a:cubicBezTo>
                <a:lnTo>
                  <a:pt x="446723" y="556260"/>
                </a:lnTo>
                <a:cubicBezTo>
                  <a:pt x="650558" y="442913"/>
                  <a:pt x="676275" y="234315"/>
                  <a:pt x="676275" y="0"/>
                </a:cubicBezTo>
                <a:cubicBezTo>
                  <a:pt x="676275" y="0"/>
                  <a:pt x="454343" y="60960"/>
                  <a:pt x="314325" y="57150"/>
                </a:cubicBezTo>
                <a:close/>
              </a:path>
            </a:pathLst>
          </a:custGeom>
          <a:solidFill>
            <a:srgbClr val="00B050"/>
          </a:solidFill>
          <a:ln w="9525" cap="flat">
            <a:noFill/>
            <a:prstDash val="solid"/>
            <a:miter/>
          </a:ln>
        </p:spPr>
        <p:txBody>
          <a:bodyPr rtlCol="0" anchor="ctr"/>
          <a:lstStyle/>
          <a:p>
            <a:endParaRPr lang="en-US" dirty="0"/>
          </a:p>
        </p:txBody>
      </p:sp>
    </p:spTree>
    <p:extLst>
      <p:ext uri="{BB962C8B-B14F-4D97-AF65-F5344CB8AC3E}">
        <p14:creationId xmlns:p14="http://schemas.microsoft.com/office/powerpoint/2010/main" val="41322728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40C15F-FB53-C053-1617-C3368DE9E5A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0DA40C6-495C-CE0D-0DB2-DC1220A05964}"/>
              </a:ext>
            </a:extLst>
          </p:cNvPr>
          <p:cNvSpPr/>
          <p:nvPr/>
        </p:nvSpPr>
        <p:spPr>
          <a:xfrm>
            <a:off x="0" y="0"/>
            <a:ext cx="9144000" cy="84355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New Roman" panose="02020603050405020304" pitchFamily="18" charset="0"/>
                <a:cs typeface="Times New Roman" pitchFamily="18" charset="0"/>
              </a:rPr>
              <a:t>Proposed Method Explanation</a:t>
            </a:r>
          </a:p>
        </p:txBody>
      </p:sp>
      <p:sp>
        <p:nvSpPr>
          <p:cNvPr id="5" name="Rectangle 4">
            <a:extLst>
              <a:ext uri="{FF2B5EF4-FFF2-40B4-BE49-F238E27FC236}">
                <a16:creationId xmlns:a16="http://schemas.microsoft.com/office/drawing/2014/main" id="{220256DC-C7E6-0647-55CE-5D2CD366800D}"/>
              </a:ext>
            </a:extLst>
          </p:cNvPr>
          <p:cNvSpPr/>
          <p:nvPr/>
        </p:nvSpPr>
        <p:spPr>
          <a:xfrm>
            <a:off x="0" y="4886275"/>
            <a:ext cx="9144000" cy="267494"/>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latin typeface="Times New Roman" panose="02020603050405020304" pitchFamily="18" charset="0"/>
                <a:cs typeface="Times New Roman" panose="02020603050405020304" pitchFamily="18" charset="0"/>
              </a:rPr>
              <a:t>MRCET    CAMPUS                                                                                                           Department of Electronics &amp; Communication Engineering </a:t>
            </a:r>
          </a:p>
        </p:txBody>
      </p:sp>
      <p:pic>
        <p:nvPicPr>
          <p:cNvPr id="8" name="Picture 7">
            <a:extLst>
              <a:ext uri="{FF2B5EF4-FFF2-40B4-BE49-F238E27FC236}">
                <a16:creationId xmlns:a16="http://schemas.microsoft.com/office/drawing/2014/main" id="{EE4F163B-6729-27FF-C677-ED113BC1FAC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43834" y="0"/>
            <a:ext cx="1218110" cy="1191577"/>
          </a:xfrm>
          <a:prstGeom prst="rect">
            <a:avLst/>
          </a:prstGeom>
        </p:spPr>
      </p:pic>
      <p:sp>
        <p:nvSpPr>
          <p:cNvPr id="3" name="TextBox 2">
            <a:extLst>
              <a:ext uri="{FF2B5EF4-FFF2-40B4-BE49-F238E27FC236}">
                <a16:creationId xmlns:a16="http://schemas.microsoft.com/office/drawing/2014/main" id="{DDB89B97-2CF7-0FFD-E98F-E64CEB0A86E1}"/>
              </a:ext>
            </a:extLst>
          </p:cNvPr>
          <p:cNvSpPr txBox="1"/>
          <p:nvPr/>
        </p:nvSpPr>
        <p:spPr>
          <a:xfrm>
            <a:off x="107504" y="915566"/>
            <a:ext cx="4597400"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1. Image capture</a:t>
            </a:r>
          </a:p>
        </p:txBody>
      </p:sp>
      <p:sp>
        <p:nvSpPr>
          <p:cNvPr id="7" name="TextBox 6">
            <a:extLst>
              <a:ext uri="{FF2B5EF4-FFF2-40B4-BE49-F238E27FC236}">
                <a16:creationId xmlns:a16="http://schemas.microsoft.com/office/drawing/2014/main" id="{B3E734D8-A239-DCCB-E81A-1AD26163592F}"/>
              </a:ext>
            </a:extLst>
          </p:cNvPr>
          <p:cNvSpPr txBox="1"/>
          <p:nvPr/>
        </p:nvSpPr>
        <p:spPr>
          <a:xfrm>
            <a:off x="323528" y="1356906"/>
            <a:ext cx="6954239" cy="646331"/>
          </a:xfrm>
          <a:prstGeom prst="rect">
            <a:avLst/>
          </a:prstGeom>
          <a:noFill/>
        </p:spPr>
        <p:txBody>
          <a:bodyPr wrap="square">
            <a:spAutoFit/>
          </a:bodyPr>
          <a:lstStyle/>
          <a:p>
            <a:pPr marL="285750" indent="-2857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This is the input data for the system. This is the raw, unprocessed image of the crop. </a:t>
            </a:r>
            <a:endParaRPr lang="en-IN"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15BA42C8-BB98-2B72-C5F6-F47744483ED1}"/>
              </a:ext>
            </a:extLst>
          </p:cNvPr>
          <p:cNvSpPr txBox="1"/>
          <p:nvPr/>
        </p:nvSpPr>
        <p:spPr>
          <a:xfrm>
            <a:off x="117931" y="2063415"/>
            <a:ext cx="4597400"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2. Image Preprocessing</a:t>
            </a:r>
          </a:p>
        </p:txBody>
      </p:sp>
      <p:sp>
        <p:nvSpPr>
          <p:cNvPr id="12" name="TextBox 11">
            <a:extLst>
              <a:ext uri="{FF2B5EF4-FFF2-40B4-BE49-F238E27FC236}">
                <a16:creationId xmlns:a16="http://schemas.microsoft.com/office/drawing/2014/main" id="{D504168E-2A46-44CB-B6C1-48AC44D9FACD}"/>
              </a:ext>
            </a:extLst>
          </p:cNvPr>
          <p:cNvSpPr txBox="1"/>
          <p:nvPr/>
        </p:nvSpPr>
        <p:spPr>
          <a:xfrm>
            <a:off x="331003" y="2516585"/>
            <a:ext cx="8057421" cy="2031325"/>
          </a:xfrm>
          <a:prstGeom prst="rect">
            <a:avLst/>
          </a:prstGeom>
          <a:noFill/>
        </p:spPr>
        <p:txBody>
          <a:bodyPr wrap="square">
            <a:spAutoFit/>
          </a:bodyPr>
          <a:lstStyle/>
          <a:p>
            <a:pPr marL="285750" indent="-2857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This step prepares the raw images for better analysis by removing noise and improving quality.</a:t>
            </a:r>
          </a:p>
          <a:p>
            <a:pPr marL="285750" indent="-2857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It also performs </a:t>
            </a:r>
            <a:r>
              <a:rPr lang="en-IN" dirty="0">
                <a:latin typeface="Times New Roman" panose="02020603050405020304" pitchFamily="18" charset="0"/>
                <a:cs typeface="Times New Roman" panose="02020603050405020304" pitchFamily="18" charset="0"/>
              </a:rPr>
              <a:t>Resizing, Normalization.</a:t>
            </a:r>
          </a:p>
          <a:p>
            <a:pPr marL="285750" indent="-285750">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The Goal is to </a:t>
            </a:r>
            <a:r>
              <a:rPr lang="en-US" dirty="0">
                <a:latin typeface="Times New Roman" panose="02020603050405020304" pitchFamily="18" charset="0"/>
                <a:cs typeface="Times New Roman" panose="02020603050405020304" pitchFamily="18" charset="0"/>
              </a:rPr>
              <a:t>improve model performance by feeding clean and standardized images into the model</a:t>
            </a:r>
            <a:r>
              <a:rPr lang="en-US" dirty="0"/>
              <a:t>.</a:t>
            </a:r>
            <a:endParaRPr lang="en-I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708992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2AD20D-0944-7F78-323C-8D71B5DC50D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099A339-EF03-371E-31EF-9890767D452C}"/>
              </a:ext>
            </a:extLst>
          </p:cNvPr>
          <p:cNvSpPr/>
          <p:nvPr/>
        </p:nvSpPr>
        <p:spPr>
          <a:xfrm>
            <a:off x="0" y="0"/>
            <a:ext cx="9144000" cy="84355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latin typeface="Times New Roman" pitchFamily="18" charset="0"/>
              <a:cs typeface="Times New Roman" pitchFamily="18" charset="0"/>
            </a:endParaRPr>
          </a:p>
        </p:txBody>
      </p:sp>
      <p:sp>
        <p:nvSpPr>
          <p:cNvPr id="5" name="Rectangle 4">
            <a:extLst>
              <a:ext uri="{FF2B5EF4-FFF2-40B4-BE49-F238E27FC236}">
                <a16:creationId xmlns:a16="http://schemas.microsoft.com/office/drawing/2014/main" id="{7F355EF2-DDC3-DA0B-44A1-0C9E0504BAAD}"/>
              </a:ext>
            </a:extLst>
          </p:cNvPr>
          <p:cNvSpPr/>
          <p:nvPr/>
        </p:nvSpPr>
        <p:spPr>
          <a:xfrm>
            <a:off x="0" y="4886275"/>
            <a:ext cx="9144000" cy="267494"/>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latin typeface="Times New Roman" panose="02020603050405020304" pitchFamily="18" charset="0"/>
                <a:cs typeface="Times New Roman" panose="02020603050405020304" pitchFamily="18" charset="0"/>
              </a:rPr>
              <a:t>MRCET    CAMPUS                                                                                                           Department of Electronics &amp; Communication Engineering </a:t>
            </a:r>
          </a:p>
        </p:txBody>
      </p:sp>
      <p:pic>
        <p:nvPicPr>
          <p:cNvPr id="8" name="Picture 7">
            <a:extLst>
              <a:ext uri="{FF2B5EF4-FFF2-40B4-BE49-F238E27FC236}">
                <a16:creationId xmlns:a16="http://schemas.microsoft.com/office/drawing/2014/main" id="{0E14E619-E26C-96B8-5CAD-DB91276659D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25890" y="0"/>
            <a:ext cx="1218110" cy="1191577"/>
          </a:xfrm>
          <a:prstGeom prst="rect">
            <a:avLst/>
          </a:prstGeom>
        </p:spPr>
      </p:pic>
      <p:sp>
        <p:nvSpPr>
          <p:cNvPr id="3" name="TextBox 2">
            <a:extLst>
              <a:ext uri="{FF2B5EF4-FFF2-40B4-BE49-F238E27FC236}">
                <a16:creationId xmlns:a16="http://schemas.microsoft.com/office/drawing/2014/main" id="{B92F8DD9-EEE3-E706-E06F-FACC4AC30866}"/>
              </a:ext>
            </a:extLst>
          </p:cNvPr>
          <p:cNvSpPr txBox="1"/>
          <p:nvPr/>
        </p:nvSpPr>
        <p:spPr>
          <a:xfrm>
            <a:off x="179512" y="915566"/>
            <a:ext cx="4598632"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3. Leaf Images Dataset</a:t>
            </a:r>
          </a:p>
        </p:txBody>
      </p:sp>
      <p:sp>
        <p:nvSpPr>
          <p:cNvPr id="7" name="TextBox 6">
            <a:extLst>
              <a:ext uri="{FF2B5EF4-FFF2-40B4-BE49-F238E27FC236}">
                <a16:creationId xmlns:a16="http://schemas.microsoft.com/office/drawing/2014/main" id="{89EFA8B4-6DE0-66EF-2BBC-99DB5E6BF4A3}"/>
              </a:ext>
            </a:extLst>
          </p:cNvPr>
          <p:cNvSpPr txBox="1"/>
          <p:nvPr/>
        </p:nvSpPr>
        <p:spPr>
          <a:xfrm>
            <a:off x="467544" y="1313688"/>
            <a:ext cx="7920880" cy="369332"/>
          </a:xfrm>
          <a:prstGeom prst="rect">
            <a:avLst/>
          </a:prstGeom>
          <a:noFill/>
        </p:spPr>
        <p:txBody>
          <a:bodyPr wrap="square">
            <a:spAutoFit/>
          </a:bodyPr>
          <a:lstStyle/>
          <a:p>
            <a:pPr marL="285750" indent="-285750">
              <a:buFont typeface="Wingdings" panose="05000000000000000000" pitchFamily="2" charset="2"/>
              <a:buChar char="v"/>
            </a:pPr>
            <a:endParaRPr lang="en-IN"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76309C36-4F49-2BB7-8C60-9FBC8C36922A}"/>
              </a:ext>
            </a:extLst>
          </p:cNvPr>
          <p:cNvSpPr txBox="1"/>
          <p:nvPr/>
        </p:nvSpPr>
        <p:spPr>
          <a:xfrm>
            <a:off x="251520" y="3178102"/>
            <a:ext cx="5112568"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4. Image Segmentation and Feature Extraction</a:t>
            </a:r>
            <a:endParaRPr lang="en-IN"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50329592-F11D-9AF0-DF6B-3F93F7D2AD4B}"/>
              </a:ext>
            </a:extLst>
          </p:cNvPr>
          <p:cNvSpPr txBox="1"/>
          <p:nvPr/>
        </p:nvSpPr>
        <p:spPr>
          <a:xfrm>
            <a:off x="439916" y="3621440"/>
            <a:ext cx="8676456" cy="923330"/>
          </a:xfrm>
          <a:prstGeom prst="rect">
            <a:avLst/>
          </a:prstGeom>
          <a:noFill/>
        </p:spPr>
        <p:txBody>
          <a:bodyPr wrap="square">
            <a:spAutoFit/>
          </a:bodyPr>
          <a:lstStyle/>
          <a:p>
            <a:pPr marL="285750" indent="-2857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Segmentation: Divides the leaf image into different parts (e.g., healthy tissue vs. diseased region) to isolate the region of interest.</a:t>
            </a:r>
          </a:p>
          <a:p>
            <a:pPr marL="285750" indent="-2857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Feature Extraction : Identifies patterns and characteristics such as color , Texture, shapes</a:t>
            </a:r>
            <a:endParaRPr lang="en-IN"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51D518BE-0628-AC4F-3A2B-1399CF72C8AF}"/>
              </a:ext>
            </a:extLst>
          </p:cNvPr>
          <p:cNvSpPr txBox="1"/>
          <p:nvPr/>
        </p:nvSpPr>
        <p:spPr>
          <a:xfrm>
            <a:off x="467544" y="1233654"/>
            <a:ext cx="7488832" cy="2308324"/>
          </a:xfrm>
          <a:prstGeom prst="rect">
            <a:avLst/>
          </a:prstGeom>
          <a:noFill/>
        </p:spPr>
        <p:txBody>
          <a:bodyPr wrap="square" rtlCol="0">
            <a:spAutoFit/>
          </a:bodyPr>
          <a:lstStyle/>
          <a:p>
            <a:pPr marL="285750" indent="-285750">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A collection of leaf images (both healthy and diseased) stored in digital format.</a:t>
            </a:r>
          </a:p>
          <a:p>
            <a:pPr marL="285750" indent="-285750">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Sources :  </a:t>
            </a:r>
            <a:r>
              <a:rPr lang="en-IN" dirty="0" err="1">
                <a:latin typeface="Times New Roman" panose="02020603050405020304" pitchFamily="18" charset="0"/>
                <a:cs typeface="Times New Roman" panose="02020603050405020304" pitchFamily="18" charset="0"/>
              </a:rPr>
              <a:t>PlantVillage</a:t>
            </a:r>
            <a:r>
              <a:rPr lang="en-IN" dirty="0">
                <a:latin typeface="Times New Roman" panose="02020603050405020304" pitchFamily="18" charset="0"/>
                <a:cs typeface="Times New Roman" panose="02020603050405020304" pitchFamily="18" charset="0"/>
              </a:rPr>
              <a:t> dataset</a:t>
            </a:r>
          </a:p>
          <a:p>
            <a:pPr marL="285750" indent="-285750">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Total Images : Over 54,000 images</a:t>
            </a:r>
          </a:p>
          <a:p>
            <a:pPr marL="285750" indent="-285750">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Crops Covered: 12 crops including  Potato, Apple, Grape, Corn , Pepper, etc.</a:t>
            </a:r>
          </a:p>
          <a:p>
            <a:pPr marL="285750" indent="-285750">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Diseases Covered: 18 diseases such as Leaf Spot, Blight, Mildew, Rust, etc.</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748552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899BB-5536-A088-64CE-6CD8FC42CB1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129429E-430A-5383-85F4-2F87C6752DF7}"/>
              </a:ext>
            </a:extLst>
          </p:cNvPr>
          <p:cNvSpPr/>
          <p:nvPr/>
        </p:nvSpPr>
        <p:spPr>
          <a:xfrm>
            <a:off x="0" y="0"/>
            <a:ext cx="9144000" cy="84355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latin typeface="Arial Black" panose="020B0A04020102020204" pitchFamily="34" charset="0"/>
            </a:endParaRPr>
          </a:p>
        </p:txBody>
      </p:sp>
      <p:sp>
        <p:nvSpPr>
          <p:cNvPr id="5" name="Rectangle 4">
            <a:extLst>
              <a:ext uri="{FF2B5EF4-FFF2-40B4-BE49-F238E27FC236}">
                <a16:creationId xmlns:a16="http://schemas.microsoft.com/office/drawing/2014/main" id="{BA5AE361-8957-EB94-C3BB-B6303FEF20E3}"/>
              </a:ext>
            </a:extLst>
          </p:cNvPr>
          <p:cNvSpPr/>
          <p:nvPr/>
        </p:nvSpPr>
        <p:spPr>
          <a:xfrm>
            <a:off x="0" y="4886275"/>
            <a:ext cx="9144000" cy="267494"/>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latin typeface="Times New Roman" panose="02020603050405020304" pitchFamily="18" charset="0"/>
                <a:cs typeface="Times New Roman" panose="02020603050405020304" pitchFamily="18" charset="0"/>
              </a:rPr>
              <a:t>MRCET    CAMPUS                                                                                                          Department of Electronics &amp; Communication Engineering </a:t>
            </a:r>
          </a:p>
        </p:txBody>
      </p:sp>
      <p:pic>
        <p:nvPicPr>
          <p:cNvPr id="8" name="Picture 7">
            <a:extLst>
              <a:ext uri="{FF2B5EF4-FFF2-40B4-BE49-F238E27FC236}">
                <a16:creationId xmlns:a16="http://schemas.microsoft.com/office/drawing/2014/main" id="{5AA92A2B-0103-6ACC-6162-A5D8B4B7023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25890" y="0"/>
            <a:ext cx="1218110" cy="1191577"/>
          </a:xfrm>
          <a:prstGeom prst="rect">
            <a:avLst/>
          </a:prstGeom>
        </p:spPr>
      </p:pic>
      <p:sp>
        <p:nvSpPr>
          <p:cNvPr id="3" name="TextBox 2">
            <a:extLst>
              <a:ext uri="{FF2B5EF4-FFF2-40B4-BE49-F238E27FC236}">
                <a16:creationId xmlns:a16="http://schemas.microsoft.com/office/drawing/2014/main" id="{71BA913E-8249-7C70-8529-2F392C79FE11}"/>
              </a:ext>
            </a:extLst>
          </p:cNvPr>
          <p:cNvSpPr txBox="1"/>
          <p:nvPr/>
        </p:nvSpPr>
        <p:spPr>
          <a:xfrm>
            <a:off x="179512" y="915566"/>
            <a:ext cx="4585316"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5. Classification</a:t>
            </a:r>
          </a:p>
        </p:txBody>
      </p:sp>
      <p:sp>
        <p:nvSpPr>
          <p:cNvPr id="7" name="TextBox 6">
            <a:extLst>
              <a:ext uri="{FF2B5EF4-FFF2-40B4-BE49-F238E27FC236}">
                <a16:creationId xmlns:a16="http://schemas.microsoft.com/office/drawing/2014/main" id="{D811B906-14C0-E593-D929-11F200D4F64A}"/>
              </a:ext>
            </a:extLst>
          </p:cNvPr>
          <p:cNvSpPr txBox="1"/>
          <p:nvPr/>
        </p:nvSpPr>
        <p:spPr>
          <a:xfrm>
            <a:off x="395536" y="1264755"/>
            <a:ext cx="8552916" cy="1200329"/>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Uses a trained machine learning or deep learning model to classify the image as</a:t>
            </a:r>
          </a:p>
          <a:p>
            <a:pPr marL="285750" indent="-2857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Healthy</a:t>
            </a:r>
          </a:p>
          <a:p>
            <a:pPr marL="285750" indent="-285750">
              <a:buFont typeface="Wingdings" panose="05000000000000000000" pitchFamily="2" charset="2"/>
              <a:buChar char="v"/>
            </a:pPr>
            <a:r>
              <a:rPr lang="en-US" altLang="en-US" dirty="0">
                <a:latin typeface="Times New Roman" panose="02020603050405020304" pitchFamily="18" charset="0"/>
                <a:cs typeface="Times New Roman" panose="02020603050405020304" pitchFamily="18" charset="0"/>
              </a:rPr>
              <a:t>Diseased (e.g., bacterial, fungal)</a:t>
            </a: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endParaRPr lang="en-IN"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7442E2BF-E635-2DDE-62CE-E32B56DEB2EF}"/>
              </a:ext>
            </a:extLst>
          </p:cNvPr>
          <p:cNvSpPr txBox="1"/>
          <p:nvPr/>
        </p:nvSpPr>
        <p:spPr>
          <a:xfrm>
            <a:off x="390596" y="2186024"/>
            <a:ext cx="8748464" cy="2585323"/>
          </a:xfrm>
          <a:prstGeom prst="rect">
            <a:avLst/>
          </a:prstGeom>
          <a:noFill/>
        </p:spPr>
        <p:txBody>
          <a:bodyPr wrap="square">
            <a:spAutoFit/>
          </a:bodyPr>
          <a:lstStyle/>
          <a:p>
            <a:pPr>
              <a:buNone/>
            </a:pPr>
            <a:r>
              <a:rPr lang="en-US" b="1" u="sng" dirty="0">
                <a:latin typeface="Times New Roman" panose="02020603050405020304" pitchFamily="18" charset="0"/>
                <a:cs typeface="Times New Roman" panose="02020603050405020304" pitchFamily="18" charset="0"/>
              </a:rPr>
              <a:t>Algorithms Used</a:t>
            </a:r>
            <a:r>
              <a:rPr lang="en-US" u="sng" dirty="0">
                <a:latin typeface="Times New Roman" panose="02020603050405020304" pitchFamily="18" charset="0"/>
                <a:cs typeface="Times New Roman" panose="02020603050405020304" pitchFamily="18" charset="0"/>
              </a:rPr>
              <a:t>:</a:t>
            </a:r>
          </a:p>
          <a:p>
            <a:pPr>
              <a:buNone/>
            </a:pP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CNN (Convolutional Neural Network)  It is a type of deep learning model specifically designed to process grid –like data such as images</a:t>
            </a:r>
          </a:p>
          <a:p>
            <a:pPr marL="285750" indent="-2857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It automatically detects patterns like edges , from the images</a:t>
            </a:r>
          </a:p>
          <a:p>
            <a:pPr marL="285750" indent="-2857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 CNN is made up of several types of layers, each with a specific job:</a:t>
            </a:r>
          </a:p>
          <a:p>
            <a:endParaRPr lang="en-US"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b="1" dirty="0">
                <a:latin typeface="Times New Roman" panose="02020603050405020304" pitchFamily="18" charset="0"/>
                <a:cs typeface="Times New Roman" panose="02020603050405020304" pitchFamily="18" charset="0"/>
              </a:rPr>
              <a:t>Layer 1 (Convolutional)</a:t>
            </a:r>
            <a:r>
              <a:rPr lang="en-US" dirty="0">
                <a:latin typeface="Times New Roman" panose="02020603050405020304" pitchFamily="18" charset="0"/>
                <a:cs typeface="Times New Roman" panose="02020603050405020304" pitchFamily="18" charset="0"/>
              </a:rPr>
              <a:t>: Breaks down the image and looks for simple patterns like edges and colors.</a:t>
            </a:r>
          </a:p>
        </p:txBody>
      </p:sp>
    </p:spTree>
    <p:extLst>
      <p:ext uri="{BB962C8B-B14F-4D97-AF65-F5344CB8AC3E}">
        <p14:creationId xmlns:p14="http://schemas.microsoft.com/office/powerpoint/2010/main" val="15778294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30FC279-F6DC-3F93-EF90-88169EB5EFD1}"/>
              </a:ext>
            </a:extLst>
          </p:cNvPr>
          <p:cNvSpPr/>
          <p:nvPr/>
        </p:nvSpPr>
        <p:spPr>
          <a:xfrm>
            <a:off x="0" y="0"/>
            <a:ext cx="9144000" cy="84355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latin typeface="Times New Roman" pitchFamily="18" charset="0"/>
              <a:cs typeface="Times New Roman" pitchFamily="18" charset="0"/>
            </a:endParaRPr>
          </a:p>
        </p:txBody>
      </p:sp>
      <p:sp>
        <p:nvSpPr>
          <p:cNvPr id="9" name="Rectangle 8">
            <a:extLst>
              <a:ext uri="{FF2B5EF4-FFF2-40B4-BE49-F238E27FC236}">
                <a16:creationId xmlns:a16="http://schemas.microsoft.com/office/drawing/2014/main" id="{9D0A7599-80D6-C5D1-A14D-8F801B2EB518}"/>
              </a:ext>
            </a:extLst>
          </p:cNvPr>
          <p:cNvSpPr/>
          <p:nvPr/>
        </p:nvSpPr>
        <p:spPr>
          <a:xfrm>
            <a:off x="0" y="4886275"/>
            <a:ext cx="9144000" cy="267494"/>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latin typeface="Times New Roman" panose="02020603050405020304" pitchFamily="18" charset="0"/>
                <a:cs typeface="Times New Roman" panose="02020603050405020304" pitchFamily="18" charset="0"/>
              </a:rPr>
              <a:t>MRCET    CAMPUS                                                                                                        Department of Electronics &amp; Communication Engineering </a:t>
            </a:r>
          </a:p>
        </p:txBody>
      </p:sp>
      <p:pic>
        <p:nvPicPr>
          <p:cNvPr id="10" name="Picture 9">
            <a:extLst>
              <a:ext uri="{FF2B5EF4-FFF2-40B4-BE49-F238E27FC236}">
                <a16:creationId xmlns:a16="http://schemas.microsoft.com/office/drawing/2014/main" id="{D037F3BC-9047-8C81-928B-0DEA9EF8254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25890" y="0"/>
            <a:ext cx="1218110" cy="1191577"/>
          </a:xfrm>
          <a:prstGeom prst="rect">
            <a:avLst/>
          </a:prstGeom>
        </p:spPr>
      </p:pic>
      <p:sp>
        <p:nvSpPr>
          <p:cNvPr id="12" name="TextBox 11">
            <a:extLst>
              <a:ext uri="{FF2B5EF4-FFF2-40B4-BE49-F238E27FC236}">
                <a16:creationId xmlns:a16="http://schemas.microsoft.com/office/drawing/2014/main" id="{611AADAE-B386-19DC-A64A-D680EB6A1FB5}"/>
              </a:ext>
            </a:extLst>
          </p:cNvPr>
          <p:cNvSpPr txBox="1"/>
          <p:nvPr/>
        </p:nvSpPr>
        <p:spPr>
          <a:xfrm>
            <a:off x="323528" y="1191577"/>
            <a:ext cx="5040560" cy="3139321"/>
          </a:xfrm>
          <a:prstGeom prst="rect">
            <a:avLst/>
          </a:prstGeom>
          <a:noFill/>
        </p:spPr>
        <p:txBody>
          <a:bodyPr wrap="square" rtlCol="0">
            <a:spAutoFit/>
          </a:bodyPr>
          <a:lstStyle/>
          <a:p>
            <a:pPr marL="342900" indent="-342900">
              <a:buAutoNum type="arabicPeriod" startAt="2"/>
            </a:pPr>
            <a:r>
              <a:rPr lang="en-US" b="1" dirty="0">
                <a:latin typeface="Times New Roman" panose="02020603050405020304" pitchFamily="18" charset="0"/>
                <a:cs typeface="Times New Roman" panose="02020603050405020304" pitchFamily="18" charset="0"/>
              </a:rPr>
              <a:t>Layer 2 (Pooling)</a:t>
            </a:r>
            <a:r>
              <a:rPr lang="en-US" dirty="0">
                <a:latin typeface="Times New Roman" panose="02020603050405020304" pitchFamily="18" charset="0"/>
                <a:cs typeface="Times New Roman" panose="02020603050405020304" pitchFamily="18" charset="0"/>
              </a:rPr>
              <a:t>: Shrinks the image to make it more manageable while keeping the most important patterns.</a:t>
            </a:r>
          </a:p>
          <a:p>
            <a:endParaRPr lang="en-US" dirty="0">
              <a:latin typeface="Times New Roman" panose="02020603050405020304" pitchFamily="18" charset="0"/>
              <a:cs typeface="Times New Roman" panose="02020603050405020304" pitchFamily="18" charset="0"/>
            </a:endParaRPr>
          </a:p>
          <a:p>
            <a:pPr marL="342900" indent="-342900">
              <a:buAutoNum type="arabicPeriod" startAt="3"/>
            </a:pPr>
            <a:r>
              <a:rPr lang="en-US" b="1" dirty="0">
                <a:latin typeface="Times New Roman" panose="02020603050405020304" pitchFamily="18" charset="0"/>
                <a:cs typeface="Times New Roman" panose="02020603050405020304" pitchFamily="18" charset="0"/>
              </a:rPr>
              <a:t>Layer 3 (More Convolutional and Pooling)</a:t>
            </a:r>
            <a:r>
              <a:rPr lang="en-US" dirty="0">
                <a:latin typeface="Times New Roman" panose="02020603050405020304" pitchFamily="18" charset="0"/>
                <a:cs typeface="Times New Roman" panose="02020603050405020304" pitchFamily="18" charset="0"/>
              </a:rPr>
              <a:t>: Repeats the process, but this     time it looks for more complex patterns like the specific shapes of disease spots.</a:t>
            </a:r>
          </a:p>
          <a:p>
            <a:pPr marL="342900" indent="-342900">
              <a:buAutoNum type="arabicPeriod" startAt="4"/>
            </a:pPr>
            <a:r>
              <a:rPr lang="en-US" b="1" dirty="0">
                <a:latin typeface="Times New Roman" panose="02020603050405020304" pitchFamily="18" charset="0"/>
                <a:cs typeface="Times New Roman" panose="02020603050405020304" pitchFamily="18" charset="0"/>
              </a:rPr>
              <a:t>Final Layer (Fully Connected)</a:t>
            </a:r>
            <a:r>
              <a:rPr lang="en-US" dirty="0">
                <a:latin typeface="Times New Roman" panose="02020603050405020304" pitchFamily="18" charset="0"/>
                <a:cs typeface="Times New Roman" panose="02020603050405020304" pitchFamily="18" charset="0"/>
              </a:rPr>
              <a:t>: Uses all the detected patterns to make a . </a:t>
            </a:r>
          </a:p>
          <a:p>
            <a:r>
              <a:rPr lang="en-US" dirty="0">
                <a:latin typeface="Times New Roman" panose="02020603050405020304" pitchFamily="18" charset="0"/>
                <a:cs typeface="Times New Roman" panose="02020603050405020304" pitchFamily="18" charset="0"/>
              </a:rPr>
              <a:t>      final decision and classify the image.</a:t>
            </a:r>
          </a:p>
        </p:txBody>
      </p:sp>
      <p:pic>
        <p:nvPicPr>
          <p:cNvPr id="3" name="Picture 2">
            <a:extLst>
              <a:ext uri="{FF2B5EF4-FFF2-40B4-BE49-F238E27FC236}">
                <a16:creationId xmlns:a16="http://schemas.microsoft.com/office/drawing/2014/main" id="{FB3E32C7-8148-CCAF-492E-C03C3D730A60}"/>
              </a:ext>
            </a:extLst>
          </p:cNvPr>
          <p:cNvPicPr>
            <a:picLocks noChangeAspect="1"/>
          </p:cNvPicPr>
          <p:nvPr/>
        </p:nvPicPr>
        <p:blipFill>
          <a:blip r:embed="rId3" cstate="print">
            <a:extLst>
              <a:ext uri="{28A0092B-C50C-407E-A947-70E740481C1C}">
                <a14:useLocalDpi xmlns:a14="http://schemas.microsoft.com/office/drawing/2010/main" val="0"/>
              </a:ext>
            </a:extLst>
          </a:blip>
          <a:srcRect l="25484" t="9400" r="24503" b="2401"/>
          <a:stretch>
            <a:fillRect/>
          </a:stretch>
        </p:blipFill>
        <p:spPr>
          <a:xfrm>
            <a:off x="5364088" y="1059582"/>
            <a:ext cx="3672409" cy="3600400"/>
          </a:xfrm>
          <a:prstGeom prst="rect">
            <a:avLst/>
          </a:prstGeom>
        </p:spPr>
      </p:pic>
    </p:spTree>
    <p:extLst>
      <p:ext uri="{BB962C8B-B14F-4D97-AF65-F5344CB8AC3E}">
        <p14:creationId xmlns:p14="http://schemas.microsoft.com/office/powerpoint/2010/main" val="35675043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3626684-2D27-0C17-977C-DFF26722704F}"/>
              </a:ext>
            </a:extLst>
          </p:cNvPr>
          <p:cNvSpPr/>
          <p:nvPr/>
        </p:nvSpPr>
        <p:spPr>
          <a:xfrm>
            <a:off x="0" y="0"/>
            <a:ext cx="9144000" cy="84355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New Roman" panose="02020603050405020304" pitchFamily="18" charset="0"/>
                <a:cs typeface="Times New Roman" panose="02020603050405020304" pitchFamily="18" charset="0"/>
              </a:rPr>
              <a:t>SOFTWARE REQUIREMENTS</a:t>
            </a:r>
          </a:p>
        </p:txBody>
      </p:sp>
      <p:sp>
        <p:nvSpPr>
          <p:cNvPr id="5" name="Rectangle 4">
            <a:extLst>
              <a:ext uri="{FF2B5EF4-FFF2-40B4-BE49-F238E27FC236}">
                <a16:creationId xmlns:a16="http://schemas.microsoft.com/office/drawing/2014/main" id="{DC55FFC3-B961-0541-DDDE-A830F00FC115}"/>
              </a:ext>
            </a:extLst>
          </p:cNvPr>
          <p:cNvSpPr/>
          <p:nvPr/>
        </p:nvSpPr>
        <p:spPr>
          <a:xfrm>
            <a:off x="0" y="4886275"/>
            <a:ext cx="9144000" cy="267494"/>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latin typeface="Times New Roman" panose="02020603050405020304" pitchFamily="18" charset="0"/>
                <a:cs typeface="Times New Roman" panose="02020603050405020304" pitchFamily="18" charset="0"/>
              </a:rPr>
              <a:t>MRCET   CAMPUS                                                                                                         Department of Electronics &amp; Communication Engineering </a:t>
            </a:r>
          </a:p>
        </p:txBody>
      </p:sp>
      <p:pic>
        <p:nvPicPr>
          <p:cNvPr id="8" name="Picture 7">
            <a:extLst>
              <a:ext uri="{FF2B5EF4-FFF2-40B4-BE49-F238E27FC236}">
                <a16:creationId xmlns:a16="http://schemas.microsoft.com/office/drawing/2014/main" id="{E7533D81-4858-F442-EB2D-B3F4D9F3A7B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25890" y="0"/>
            <a:ext cx="1218110" cy="1191577"/>
          </a:xfrm>
          <a:prstGeom prst="rect">
            <a:avLst/>
          </a:prstGeom>
        </p:spPr>
      </p:pic>
      <p:sp>
        <p:nvSpPr>
          <p:cNvPr id="2" name="TextBox 1"/>
          <p:cNvSpPr txBox="1"/>
          <p:nvPr/>
        </p:nvSpPr>
        <p:spPr>
          <a:xfrm>
            <a:off x="179512" y="987574"/>
            <a:ext cx="8352928" cy="3693319"/>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Programming Language:</a:t>
            </a:r>
          </a:p>
          <a:p>
            <a:pPr marL="342900" indent="-342900">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Python:</a:t>
            </a:r>
            <a:r>
              <a:rPr lang="en-US" dirty="0">
                <a:latin typeface="Times New Roman" panose="02020603050405020304" pitchFamily="18" charset="0"/>
                <a:cs typeface="Times New Roman" panose="02020603050405020304" pitchFamily="18" charset="0"/>
              </a:rPr>
              <a:t> The industry standard for machine learning and data science due to its rich ecosystem of libraries.</a:t>
            </a:r>
          </a:p>
          <a:p>
            <a:r>
              <a:rPr lang="en-US" b="1" dirty="0">
                <a:latin typeface="Times New Roman" panose="02020603050405020304" pitchFamily="18" charset="0"/>
                <a:cs typeface="Times New Roman" panose="02020603050405020304" pitchFamily="18" charset="0"/>
              </a:rPr>
              <a:t>Core Libraries :</a:t>
            </a:r>
          </a:p>
          <a:p>
            <a:pPr marL="285750" indent="-285750">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TensorFlow :</a:t>
            </a:r>
            <a:r>
              <a:rPr lang="en-US" dirty="0">
                <a:latin typeface="Times New Roman" panose="02020603050405020304" pitchFamily="18" charset="0"/>
                <a:cs typeface="Times New Roman" panose="02020603050405020304" pitchFamily="18" charset="0"/>
              </a:rPr>
              <a:t> An open-source deep learning framework. provides a user-friendly, Environment that simplifies the process of building and training neural networks.</a:t>
            </a:r>
          </a:p>
          <a:p>
            <a:pPr marL="285750" indent="-285750">
              <a:buFont typeface="Wingdings" panose="05000000000000000000" pitchFamily="2" charset="2"/>
              <a:buChar char="v"/>
            </a:pPr>
            <a:r>
              <a:rPr lang="en-US" b="1" dirty="0" err="1">
                <a:latin typeface="Times New Roman" panose="02020603050405020304" pitchFamily="18" charset="0"/>
                <a:cs typeface="Times New Roman" panose="02020603050405020304" pitchFamily="18" charset="0"/>
              </a:rPr>
              <a:t>Streamlit</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Essential for creating interactive web applications and user interfaces with     </a:t>
            </a:r>
          </a:p>
          <a:p>
            <a:r>
              <a:rPr lang="en-US" dirty="0">
                <a:latin typeface="Times New Roman" panose="02020603050405020304" pitchFamily="18" charset="0"/>
                <a:cs typeface="Times New Roman" panose="02020603050405020304" pitchFamily="18" charset="0"/>
              </a:rPr>
              <a:t>     minimal code, enabling rapid deployment of machine learning models.</a:t>
            </a:r>
          </a:p>
          <a:p>
            <a:r>
              <a:rPr lang="en-US" dirty="0">
                <a:latin typeface="Times New Roman" panose="02020603050405020304" pitchFamily="18" charset="0"/>
                <a:cs typeface="Times New Roman" panose="02020603050405020304" pitchFamily="18" charset="0"/>
              </a:rPr>
              <a:t>     Development Environment</a:t>
            </a:r>
          </a:p>
          <a:p>
            <a:pPr marL="285750" indent="-285750">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Google </a:t>
            </a:r>
            <a:r>
              <a:rPr lang="en-US" b="1" dirty="0" err="1">
                <a:latin typeface="Times New Roman" panose="02020603050405020304" pitchFamily="18" charset="0"/>
                <a:cs typeface="Times New Roman" panose="02020603050405020304" pitchFamily="18" charset="0"/>
              </a:rPr>
              <a:t>Colab</a:t>
            </a:r>
            <a:r>
              <a:rPr lang="en-US" b="1" dirty="0">
                <a:latin typeface="Times New Roman" panose="02020603050405020304" pitchFamily="18" charset="0"/>
                <a:cs typeface="Times New Roman" panose="02020603050405020304" pitchFamily="18" charset="0"/>
              </a:rPr>
              <a:t> &amp;</a:t>
            </a:r>
            <a:r>
              <a:rPr lang="en-US" b="1" dirty="0" err="1">
                <a:latin typeface="Times New Roman" panose="02020603050405020304" pitchFamily="18" charset="0"/>
                <a:cs typeface="Times New Roman" panose="02020603050405020304" pitchFamily="18" charset="0"/>
              </a:rPr>
              <a:t>Jupyter</a:t>
            </a:r>
            <a:r>
              <a:rPr lang="en-US" b="1" dirty="0">
                <a:latin typeface="Times New Roman" panose="02020603050405020304" pitchFamily="18" charset="0"/>
                <a:cs typeface="Times New Roman" panose="02020603050405020304" pitchFamily="18" charset="0"/>
              </a:rPr>
              <a:t> Notebook:</a:t>
            </a:r>
            <a:r>
              <a:rPr lang="en-US" dirty="0">
                <a:latin typeface="Times New Roman" panose="02020603050405020304" pitchFamily="18" charset="0"/>
                <a:cs typeface="Times New Roman" panose="02020603050405020304" pitchFamily="18" charset="0"/>
              </a:rPr>
              <a:t> An interactive environment that allows you to write and run code, display visualizations, and document your work all in one place. It is perfect for this project as Google </a:t>
            </a:r>
            <a:r>
              <a:rPr lang="en-US" dirty="0" err="1">
                <a:latin typeface="Times New Roman" panose="02020603050405020304" pitchFamily="18" charset="0"/>
                <a:cs typeface="Times New Roman" panose="02020603050405020304" pitchFamily="18" charset="0"/>
              </a:rPr>
              <a:t>Colab</a:t>
            </a:r>
            <a:r>
              <a:rPr lang="en-US" dirty="0">
                <a:latin typeface="Times New Roman" panose="02020603050405020304" pitchFamily="18" charset="0"/>
                <a:cs typeface="Times New Roman" panose="02020603050405020304" pitchFamily="18" charset="0"/>
              </a:rPr>
              <a:t> offers free GPU access.</a:t>
            </a:r>
          </a:p>
          <a:p>
            <a:endParaRPr lang="en-IN" b="1" dirty="0">
              <a:latin typeface="Times New Roman" panose="02020603050405020304" pitchFamily="18" charset="0"/>
              <a:cs typeface="Times New Roman" pitchFamily="18" charset="0"/>
            </a:endParaRPr>
          </a:p>
        </p:txBody>
      </p:sp>
    </p:spTree>
    <p:extLst>
      <p:ext uri="{BB962C8B-B14F-4D97-AF65-F5344CB8AC3E}">
        <p14:creationId xmlns:p14="http://schemas.microsoft.com/office/powerpoint/2010/main" val="1120862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9C4466-3814-E388-D036-38FA5C48BF3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EA0D7B0-DCE0-9E38-664F-03B7B2B363EE}"/>
              </a:ext>
            </a:extLst>
          </p:cNvPr>
          <p:cNvSpPr/>
          <p:nvPr/>
        </p:nvSpPr>
        <p:spPr>
          <a:xfrm>
            <a:off x="0" y="0"/>
            <a:ext cx="9144000" cy="84355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New Roman" pitchFamily="18" charset="0"/>
                <a:cs typeface="Times New Roman" pitchFamily="18" charset="0"/>
              </a:rPr>
              <a:t>Advantages of Our System</a:t>
            </a:r>
          </a:p>
        </p:txBody>
      </p:sp>
      <p:sp>
        <p:nvSpPr>
          <p:cNvPr id="5" name="Rectangle 4">
            <a:extLst>
              <a:ext uri="{FF2B5EF4-FFF2-40B4-BE49-F238E27FC236}">
                <a16:creationId xmlns:a16="http://schemas.microsoft.com/office/drawing/2014/main" id="{FA923434-795D-846D-E058-89C69C15D013}"/>
              </a:ext>
            </a:extLst>
          </p:cNvPr>
          <p:cNvSpPr/>
          <p:nvPr/>
        </p:nvSpPr>
        <p:spPr>
          <a:xfrm>
            <a:off x="0" y="4886275"/>
            <a:ext cx="9144000" cy="267494"/>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latin typeface="Times New Roman" panose="02020603050405020304" pitchFamily="18" charset="0"/>
                <a:cs typeface="Times New Roman" panose="02020603050405020304" pitchFamily="18" charset="0"/>
              </a:rPr>
              <a:t>MRCET    CAMPUS                                                                                                        Department of Electronics &amp; Communication Engineering </a:t>
            </a:r>
          </a:p>
        </p:txBody>
      </p:sp>
      <p:pic>
        <p:nvPicPr>
          <p:cNvPr id="8" name="Picture 7">
            <a:extLst>
              <a:ext uri="{FF2B5EF4-FFF2-40B4-BE49-F238E27FC236}">
                <a16:creationId xmlns:a16="http://schemas.microsoft.com/office/drawing/2014/main" id="{A539FC14-AFAB-3A52-0DB1-44E7A129824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25890" y="0"/>
            <a:ext cx="1218110" cy="1191577"/>
          </a:xfrm>
          <a:prstGeom prst="rect">
            <a:avLst/>
          </a:prstGeom>
        </p:spPr>
      </p:pic>
      <p:sp>
        <p:nvSpPr>
          <p:cNvPr id="2" name="TextBox 1">
            <a:extLst>
              <a:ext uri="{FF2B5EF4-FFF2-40B4-BE49-F238E27FC236}">
                <a16:creationId xmlns:a16="http://schemas.microsoft.com/office/drawing/2014/main" id="{65D957E3-2E4E-07A3-7465-082C59E9E8D3}"/>
              </a:ext>
            </a:extLst>
          </p:cNvPr>
          <p:cNvSpPr txBox="1"/>
          <p:nvPr/>
        </p:nvSpPr>
        <p:spPr>
          <a:xfrm>
            <a:off x="611560" y="1275606"/>
            <a:ext cx="7560840" cy="2031325"/>
          </a:xfrm>
          <a:prstGeom prst="rect">
            <a:avLst/>
          </a:prstGeom>
          <a:noFill/>
        </p:spPr>
        <p:txBody>
          <a:bodyPr wrap="square" rtlCol="0">
            <a:spAutoFit/>
          </a:bodyPr>
          <a:lstStyle/>
          <a:p>
            <a:pPr marL="342900" indent="-342900">
              <a:buAutoNum type="arabicPeriod"/>
            </a:pPr>
            <a:r>
              <a:rPr lang="en-US" dirty="0">
                <a:latin typeface="Times New Roman" panose="02020603050405020304" pitchFamily="18" charset="0"/>
                <a:cs typeface="Times New Roman" panose="02020603050405020304" pitchFamily="18" charset="0"/>
              </a:rPr>
              <a:t>Early and Accurate Detection</a:t>
            </a:r>
          </a:p>
          <a:p>
            <a:pPr marL="342900" indent="-342900">
              <a:buAutoNum type="arabicPeriod"/>
            </a:pPr>
            <a:r>
              <a:rPr lang="en-US" dirty="0">
                <a:latin typeface="Times New Roman" panose="02020603050405020304" pitchFamily="18" charset="0"/>
                <a:cs typeface="Times New Roman" panose="02020603050405020304" pitchFamily="18" charset="0"/>
              </a:rPr>
              <a:t>Increased Efficiency &amp; Cost Savings</a:t>
            </a:r>
          </a:p>
          <a:p>
            <a:pPr marL="342900" indent="-342900">
              <a:buAutoNum type="arabicPeriod"/>
            </a:pPr>
            <a:r>
              <a:rPr lang="en-US" dirty="0">
                <a:latin typeface="Times New Roman" panose="02020603050405020304" pitchFamily="18" charset="0"/>
                <a:cs typeface="Times New Roman" panose="02020603050405020304" pitchFamily="18" charset="0"/>
              </a:rPr>
              <a:t>Reduced Pesticide Use</a:t>
            </a:r>
          </a:p>
          <a:p>
            <a:pPr marL="342900" indent="-342900">
              <a:buAutoNum type="arabicPeriod"/>
            </a:pPr>
            <a:r>
              <a:rPr lang="en-US" dirty="0">
                <a:latin typeface="Times New Roman" panose="02020603050405020304" pitchFamily="18" charset="0"/>
                <a:cs typeface="Times New Roman" panose="02020603050405020304" pitchFamily="18" charset="0"/>
              </a:rPr>
              <a:t>Accessibility :</a:t>
            </a:r>
          </a:p>
          <a:p>
            <a:pPr marL="285750" indent="-2857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  making professional-level diagnostic tools accessible to farmers in remote</a:t>
            </a:r>
          </a:p>
          <a:p>
            <a:r>
              <a:rPr lang="en-US" dirty="0">
                <a:latin typeface="Times New Roman" panose="02020603050405020304" pitchFamily="18" charset="0"/>
                <a:cs typeface="Times New Roman" panose="02020603050405020304" pitchFamily="18" charset="0"/>
              </a:rPr>
              <a:t>     areas.</a:t>
            </a:r>
          </a:p>
          <a:p>
            <a:endParaRPr lang="en-US"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19F34926-7520-DEC3-AC44-1006597A3BEC}"/>
              </a:ext>
            </a:extLst>
          </p:cNvPr>
          <p:cNvSpPr txBox="1"/>
          <p:nvPr/>
        </p:nvSpPr>
        <p:spPr>
          <a:xfrm>
            <a:off x="611560" y="2983765"/>
            <a:ext cx="7200800" cy="646331"/>
          </a:xfrm>
          <a:prstGeom prst="rect">
            <a:avLst/>
          </a:prstGeom>
          <a:noFill/>
        </p:spPr>
        <p:txBody>
          <a:bodyPr wrap="square">
            <a:spAutoFit/>
          </a:bodyPr>
          <a:lstStyle/>
          <a:p>
            <a:pPr marL="285750" indent="-2857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Empowers small-scale farmers who may not have access to agricultural experts.</a:t>
            </a:r>
          </a:p>
        </p:txBody>
      </p:sp>
    </p:spTree>
    <p:extLst>
      <p:ext uri="{BB962C8B-B14F-4D97-AF65-F5344CB8AC3E}">
        <p14:creationId xmlns:p14="http://schemas.microsoft.com/office/powerpoint/2010/main" val="40434423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406CAD8-9BFF-7A1F-88B4-3FE74C72DA55}"/>
              </a:ext>
            </a:extLst>
          </p:cNvPr>
          <p:cNvSpPr/>
          <p:nvPr/>
        </p:nvSpPr>
        <p:spPr>
          <a:xfrm>
            <a:off x="0" y="0"/>
            <a:ext cx="9144000" cy="84355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New Roman" pitchFamily="18" charset="0"/>
                <a:cs typeface="Times New Roman" pitchFamily="18" charset="0"/>
              </a:rPr>
              <a:t>RESULTS</a:t>
            </a:r>
          </a:p>
        </p:txBody>
      </p:sp>
      <p:sp>
        <p:nvSpPr>
          <p:cNvPr id="5" name="Rectangle 4">
            <a:extLst>
              <a:ext uri="{FF2B5EF4-FFF2-40B4-BE49-F238E27FC236}">
                <a16:creationId xmlns:a16="http://schemas.microsoft.com/office/drawing/2014/main" id="{427D1CD6-9691-CA07-BA22-F52A06320E07}"/>
              </a:ext>
            </a:extLst>
          </p:cNvPr>
          <p:cNvSpPr/>
          <p:nvPr/>
        </p:nvSpPr>
        <p:spPr>
          <a:xfrm>
            <a:off x="0" y="4886275"/>
            <a:ext cx="9144000" cy="267494"/>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latin typeface="Times New Roman" panose="02020603050405020304" pitchFamily="18" charset="0"/>
                <a:cs typeface="Times New Roman" panose="02020603050405020304" pitchFamily="18" charset="0"/>
              </a:rPr>
              <a:t>MRCET    CAMPUS                                                                                                        Department of Electronics &amp; Communication Engineering </a:t>
            </a:r>
          </a:p>
        </p:txBody>
      </p:sp>
      <p:pic>
        <p:nvPicPr>
          <p:cNvPr id="6" name="Picture 5">
            <a:extLst>
              <a:ext uri="{FF2B5EF4-FFF2-40B4-BE49-F238E27FC236}">
                <a16:creationId xmlns:a16="http://schemas.microsoft.com/office/drawing/2014/main" id="{2DDD723D-8353-A8DA-B24B-E6C7AF4E7EE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25890" y="0"/>
            <a:ext cx="1218110" cy="1191577"/>
          </a:xfrm>
          <a:prstGeom prst="rect">
            <a:avLst/>
          </a:prstGeom>
        </p:spPr>
      </p:pic>
      <p:pic>
        <p:nvPicPr>
          <p:cNvPr id="14" name="Picture 13">
            <a:extLst>
              <a:ext uri="{FF2B5EF4-FFF2-40B4-BE49-F238E27FC236}">
                <a16:creationId xmlns:a16="http://schemas.microsoft.com/office/drawing/2014/main" id="{DDF85A5E-74E2-6E29-20DC-D6F855B5595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64088" y="3291830"/>
            <a:ext cx="3456384" cy="1470584"/>
          </a:xfrm>
          <a:prstGeom prst="rect">
            <a:avLst/>
          </a:prstGeom>
        </p:spPr>
      </p:pic>
      <p:pic>
        <p:nvPicPr>
          <p:cNvPr id="15" name="Picture 14">
            <a:extLst>
              <a:ext uri="{FF2B5EF4-FFF2-40B4-BE49-F238E27FC236}">
                <a16:creationId xmlns:a16="http://schemas.microsoft.com/office/drawing/2014/main" id="{46C91494-177D-458E-83FE-D87EAE3FA4AC}"/>
              </a:ext>
            </a:extLst>
          </p:cNvPr>
          <p:cNvPicPr>
            <a:picLocks noChangeAspect="1"/>
          </p:cNvPicPr>
          <p:nvPr/>
        </p:nvPicPr>
        <p:blipFill>
          <a:blip r:embed="rId4" cstate="print">
            <a:extLst>
              <a:ext uri="{28A0092B-C50C-407E-A947-70E740481C1C}">
                <a14:useLocalDpi xmlns:a14="http://schemas.microsoft.com/office/drawing/2010/main" val="0"/>
              </a:ext>
            </a:extLst>
          </a:blip>
          <a:srcRect b="3761"/>
          <a:stretch>
            <a:fillRect/>
          </a:stretch>
        </p:blipFill>
        <p:spPr>
          <a:xfrm>
            <a:off x="5364088" y="1059583"/>
            <a:ext cx="3456384" cy="2160240"/>
          </a:xfrm>
          <a:prstGeom prst="rect">
            <a:avLst/>
          </a:prstGeom>
        </p:spPr>
      </p:pic>
      <p:pic>
        <p:nvPicPr>
          <p:cNvPr id="17" name="Picture 16">
            <a:extLst>
              <a:ext uri="{FF2B5EF4-FFF2-40B4-BE49-F238E27FC236}">
                <a16:creationId xmlns:a16="http://schemas.microsoft.com/office/drawing/2014/main" id="{DFF44170-E34B-7685-2F57-78E25B552AEC}"/>
              </a:ext>
            </a:extLst>
          </p:cNvPr>
          <p:cNvPicPr>
            <a:picLocks noChangeAspect="1"/>
          </p:cNvPicPr>
          <p:nvPr/>
        </p:nvPicPr>
        <p:blipFill>
          <a:blip r:embed="rId5">
            <a:extLst>
              <a:ext uri="{28A0092B-C50C-407E-A947-70E740481C1C}">
                <a14:useLocalDpi xmlns:a14="http://schemas.microsoft.com/office/drawing/2010/main" val="0"/>
              </a:ext>
            </a:extLst>
          </a:blip>
          <a:srcRect l="1179" t="1992" r="1179" b="1992"/>
          <a:stretch>
            <a:fillRect/>
          </a:stretch>
        </p:blipFill>
        <p:spPr>
          <a:xfrm>
            <a:off x="179512" y="1059583"/>
            <a:ext cx="4392488" cy="3702831"/>
          </a:xfrm>
          <a:prstGeom prst="rect">
            <a:avLst/>
          </a:prstGeom>
        </p:spPr>
      </p:pic>
      <p:sp>
        <p:nvSpPr>
          <p:cNvPr id="18" name="Arrow: Right 17">
            <a:extLst>
              <a:ext uri="{FF2B5EF4-FFF2-40B4-BE49-F238E27FC236}">
                <a16:creationId xmlns:a16="http://schemas.microsoft.com/office/drawing/2014/main" id="{85256A9B-47B5-9A89-20C1-785DF4CD5731}"/>
              </a:ext>
            </a:extLst>
          </p:cNvPr>
          <p:cNvSpPr/>
          <p:nvPr/>
        </p:nvSpPr>
        <p:spPr>
          <a:xfrm>
            <a:off x="4316568" y="2668682"/>
            <a:ext cx="834392" cy="484632"/>
          </a:xfrm>
          <a:prstGeom prst="rightArrow">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4108068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0FC8727-FC2F-4998-1E37-35B9321C0C6E}"/>
              </a:ext>
            </a:extLst>
          </p:cNvPr>
          <p:cNvSpPr/>
          <p:nvPr/>
        </p:nvSpPr>
        <p:spPr>
          <a:xfrm>
            <a:off x="0" y="0"/>
            <a:ext cx="9144000" cy="84355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New Roman" pitchFamily="18" charset="0"/>
                <a:cs typeface="Times New Roman" pitchFamily="18" charset="0"/>
              </a:rPr>
              <a:t>CONCLUSION</a:t>
            </a:r>
          </a:p>
        </p:txBody>
      </p:sp>
      <p:sp>
        <p:nvSpPr>
          <p:cNvPr id="5" name="Rectangle 4">
            <a:extLst>
              <a:ext uri="{FF2B5EF4-FFF2-40B4-BE49-F238E27FC236}">
                <a16:creationId xmlns:a16="http://schemas.microsoft.com/office/drawing/2014/main" id="{B6F3C886-D75F-9CBB-9312-2CAFB15C7CD6}"/>
              </a:ext>
            </a:extLst>
          </p:cNvPr>
          <p:cNvSpPr/>
          <p:nvPr/>
        </p:nvSpPr>
        <p:spPr>
          <a:xfrm>
            <a:off x="0" y="4886275"/>
            <a:ext cx="9144000" cy="267494"/>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latin typeface="Times New Roman" panose="02020603050405020304" pitchFamily="18" charset="0"/>
                <a:cs typeface="Times New Roman" panose="02020603050405020304" pitchFamily="18" charset="0"/>
              </a:rPr>
              <a:t>MRCET    CAMPUS                                                                                                        Department of Electronics &amp; Communication Engineering </a:t>
            </a:r>
          </a:p>
        </p:txBody>
      </p:sp>
      <p:pic>
        <p:nvPicPr>
          <p:cNvPr id="6" name="Picture 5">
            <a:extLst>
              <a:ext uri="{FF2B5EF4-FFF2-40B4-BE49-F238E27FC236}">
                <a16:creationId xmlns:a16="http://schemas.microsoft.com/office/drawing/2014/main" id="{0F135782-ACAD-7F59-0946-8BE486942A8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25890" y="0"/>
            <a:ext cx="1218110" cy="1191577"/>
          </a:xfrm>
          <a:prstGeom prst="rect">
            <a:avLst/>
          </a:prstGeom>
        </p:spPr>
      </p:pic>
      <p:sp>
        <p:nvSpPr>
          <p:cNvPr id="7" name="TextBox 6">
            <a:extLst>
              <a:ext uri="{FF2B5EF4-FFF2-40B4-BE49-F238E27FC236}">
                <a16:creationId xmlns:a16="http://schemas.microsoft.com/office/drawing/2014/main" id="{7CFEFECB-BD8D-7427-22FF-A368DAE7E9B3}"/>
              </a:ext>
            </a:extLst>
          </p:cNvPr>
          <p:cNvSpPr txBox="1"/>
          <p:nvPr/>
        </p:nvSpPr>
        <p:spPr>
          <a:xfrm>
            <a:off x="971600" y="1347614"/>
            <a:ext cx="6696744" cy="2862322"/>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  This project successfully tackles that gap, delivering a robust model that performs reliably in real-world agricultural settings, not just in the lab. This is our core contribution . On Crop disease detection using image classification has shown significant progress, moving from traditional machine learning to advanced deep learning methods. imbalanced data, and real-field adaptability remain. This project addresses the gap between lab accuracy and field performance, contributing to sustainable agriculture, reduced crop losses, and improved food security.</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50747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3AB1160-529E-2031-5CB7-983935475670}"/>
              </a:ext>
            </a:extLst>
          </p:cNvPr>
          <p:cNvSpPr/>
          <p:nvPr/>
        </p:nvSpPr>
        <p:spPr>
          <a:xfrm>
            <a:off x="0" y="0"/>
            <a:ext cx="9144000" cy="84355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New Roman" panose="02020603050405020304" pitchFamily="18" charset="0"/>
                <a:cs typeface="Times New Roman" panose="02020603050405020304" pitchFamily="18" charset="0"/>
              </a:rPr>
              <a:t>References</a:t>
            </a:r>
          </a:p>
        </p:txBody>
      </p:sp>
      <p:sp>
        <p:nvSpPr>
          <p:cNvPr id="7" name="Rectangle 6">
            <a:extLst>
              <a:ext uri="{FF2B5EF4-FFF2-40B4-BE49-F238E27FC236}">
                <a16:creationId xmlns:a16="http://schemas.microsoft.com/office/drawing/2014/main" id="{48CF21E7-9734-5222-F6BE-E1A870AA2BD8}"/>
              </a:ext>
            </a:extLst>
          </p:cNvPr>
          <p:cNvSpPr/>
          <p:nvPr/>
        </p:nvSpPr>
        <p:spPr>
          <a:xfrm>
            <a:off x="0" y="4886275"/>
            <a:ext cx="9144000" cy="267494"/>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latin typeface="Times New Roman" panose="02020603050405020304" pitchFamily="18" charset="0"/>
                <a:cs typeface="Times New Roman" panose="02020603050405020304" pitchFamily="18" charset="0"/>
              </a:rPr>
              <a:t>MRCET    CAMPUS                                                                                                        Department of Electronics &amp; Communication Engineering </a:t>
            </a:r>
          </a:p>
        </p:txBody>
      </p:sp>
      <p:pic>
        <p:nvPicPr>
          <p:cNvPr id="8" name="Picture 7">
            <a:extLst>
              <a:ext uri="{FF2B5EF4-FFF2-40B4-BE49-F238E27FC236}">
                <a16:creationId xmlns:a16="http://schemas.microsoft.com/office/drawing/2014/main" id="{DEB1156A-C4B7-20C0-77EB-DACDB2E0286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25890" y="0"/>
            <a:ext cx="1218110" cy="1191577"/>
          </a:xfrm>
          <a:prstGeom prst="rect">
            <a:avLst/>
          </a:prstGeom>
        </p:spPr>
      </p:pic>
      <p:sp>
        <p:nvSpPr>
          <p:cNvPr id="4" name="TextBox 3">
            <a:extLst>
              <a:ext uri="{FF2B5EF4-FFF2-40B4-BE49-F238E27FC236}">
                <a16:creationId xmlns:a16="http://schemas.microsoft.com/office/drawing/2014/main" id="{2F9D1CEC-A43F-92FC-7B53-294124B1B7C5}"/>
              </a:ext>
            </a:extLst>
          </p:cNvPr>
          <p:cNvSpPr txBox="1"/>
          <p:nvPr/>
        </p:nvSpPr>
        <p:spPr>
          <a:xfrm>
            <a:off x="539552" y="1191577"/>
            <a:ext cx="8136904" cy="2308324"/>
          </a:xfrm>
          <a:prstGeom prst="rect">
            <a:avLst/>
          </a:prstGeom>
          <a:noFill/>
        </p:spPr>
        <p:txBody>
          <a:bodyPr wrap="square" rtlCol="0">
            <a:spAutoFit/>
          </a:bodyPr>
          <a:lstStyle/>
          <a:p>
            <a:pPr marL="285750" indent="-285750">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Journal of Agriculture and Food Science</a:t>
            </a:r>
            <a:r>
              <a:rPr lang="en-US" dirty="0">
                <a:latin typeface="Times New Roman" panose="02020603050405020304" pitchFamily="18" charset="0"/>
                <a:cs typeface="Times New Roman" panose="02020603050405020304" pitchFamily="18" charset="0"/>
              </a:rPr>
              <a:t>: Publishes papers on various agricultural technologies, including those related to crop health.</a:t>
            </a:r>
          </a:p>
          <a:p>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IEEE Access</a:t>
            </a:r>
            <a:r>
              <a:rPr lang="en-US" dirty="0">
                <a:latin typeface="Times New Roman" panose="02020603050405020304" pitchFamily="18" charset="0"/>
                <a:cs typeface="Times New Roman" panose="02020603050405020304" pitchFamily="18" charset="0"/>
              </a:rPr>
              <a:t>: A broad, multidisciplinary journal that frequently includes articles on computer vision and deep learning applications in real-world scenarios.</a:t>
            </a:r>
          </a:p>
          <a:p>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dirty="0" err="1">
                <a:latin typeface="Times New Roman" panose="02020603050405020304" pitchFamily="18" charset="0"/>
                <a:cs typeface="Times New Roman" panose="02020603050405020304" pitchFamily="18" charset="0"/>
              </a:rPr>
              <a:t>PlantVillage</a:t>
            </a:r>
            <a:r>
              <a:rPr lang="en-US" dirty="0">
                <a:latin typeface="Times New Roman" panose="02020603050405020304" pitchFamily="18" charset="0"/>
                <a:cs typeface="Times New Roman" panose="02020603050405020304" pitchFamily="18" charset="0"/>
              </a:rPr>
              <a:t> Dataset </a:t>
            </a:r>
            <a:r>
              <a:rPr lang="en-US" dirty="0"/>
              <a:t>: </a:t>
            </a:r>
            <a:r>
              <a:rPr lang="en-US" dirty="0">
                <a:latin typeface="Times New Roman" panose="02020603050405020304" pitchFamily="18" charset="0"/>
                <a:cs typeface="Times New Roman" panose="02020603050405020304" pitchFamily="18" charset="0"/>
              </a:rPr>
              <a:t>http://www.Kaggle.com/datasets/abdallahalidev/plantvillage-dataset</a:t>
            </a:r>
          </a:p>
        </p:txBody>
      </p:sp>
    </p:spTree>
    <p:extLst>
      <p:ext uri="{BB962C8B-B14F-4D97-AF65-F5344CB8AC3E}">
        <p14:creationId xmlns:p14="http://schemas.microsoft.com/office/powerpoint/2010/main" val="11740932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F6B0B-DB8C-EA03-3CB6-1CF225EA8C3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3157650-432F-8A73-42CC-1D5B90A9927A}"/>
              </a:ext>
            </a:extLst>
          </p:cNvPr>
          <p:cNvSpPr/>
          <p:nvPr/>
        </p:nvSpPr>
        <p:spPr>
          <a:xfrm>
            <a:off x="0" y="0"/>
            <a:ext cx="9144000" cy="84355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latin typeface="Arial Black" panose="020B0A04020102020204" pitchFamily="34" charset="0"/>
            </a:endParaRPr>
          </a:p>
        </p:txBody>
      </p:sp>
      <p:sp>
        <p:nvSpPr>
          <p:cNvPr id="5" name="Rectangle 4">
            <a:extLst>
              <a:ext uri="{FF2B5EF4-FFF2-40B4-BE49-F238E27FC236}">
                <a16:creationId xmlns:a16="http://schemas.microsoft.com/office/drawing/2014/main" id="{34F2F332-DA8C-EE3C-7CEB-3D33710602B6}"/>
              </a:ext>
            </a:extLst>
          </p:cNvPr>
          <p:cNvSpPr/>
          <p:nvPr/>
        </p:nvSpPr>
        <p:spPr>
          <a:xfrm>
            <a:off x="0" y="4886275"/>
            <a:ext cx="9144000" cy="267494"/>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latin typeface="Times New Roman" panose="02020603050405020304" pitchFamily="18" charset="0"/>
                <a:cs typeface="Times New Roman" panose="02020603050405020304" pitchFamily="18" charset="0"/>
              </a:rPr>
              <a:t>MRCET   CAMPUS                                                                                                           Department of Electronics &amp; Communication Engineering </a:t>
            </a:r>
          </a:p>
        </p:txBody>
      </p:sp>
      <p:pic>
        <p:nvPicPr>
          <p:cNvPr id="8" name="Picture 7">
            <a:extLst>
              <a:ext uri="{FF2B5EF4-FFF2-40B4-BE49-F238E27FC236}">
                <a16:creationId xmlns:a16="http://schemas.microsoft.com/office/drawing/2014/main" id="{5B169711-8932-A868-6CAB-80B984029E8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25890" y="0"/>
            <a:ext cx="1218110" cy="1191577"/>
          </a:xfrm>
          <a:prstGeom prst="rect">
            <a:avLst/>
          </a:prstGeom>
        </p:spPr>
      </p:pic>
      <p:pic>
        <p:nvPicPr>
          <p:cNvPr id="1026" name="Picture 2" descr="Any Questions&quot; Images – Browse 459 Stock Photos, Vectors, and Video | Adobe  Stock">
            <a:extLst>
              <a:ext uri="{FF2B5EF4-FFF2-40B4-BE49-F238E27FC236}">
                <a16:creationId xmlns:a16="http://schemas.microsoft.com/office/drawing/2014/main" id="{9AB53671-BBD9-355B-82A4-9E8D29EEEF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756" y="1012944"/>
            <a:ext cx="8964488" cy="34115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98056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541C5-76B0-1E4B-08B5-8F6A0B8C401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73BE379-D802-E134-03EE-064AF63720C2}"/>
              </a:ext>
            </a:extLst>
          </p:cNvPr>
          <p:cNvSpPr/>
          <p:nvPr/>
        </p:nvSpPr>
        <p:spPr>
          <a:xfrm>
            <a:off x="0" y="0"/>
            <a:ext cx="9144000" cy="84355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latin typeface="Arial Black" panose="020B0A04020102020204" pitchFamily="34" charset="0"/>
            </a:endParaRPr>
          </a:p>
        </p:txBody>
      </p:sp>
      <p:sp>
        <p:nvSpPr>
          <p:cNvPr id="5" name="Rectangle 4">
            <a:extLst>
              <a:ext uri="{FF2B5EF4-FFF2-40B4-BE49-F238E27FC236}">
                <a16:creationId xmlns:a16="http://schemas.microsoft.com/office/drawing/2014/main" id="{59F09BEC-6480-BFE0-B108-A747CFF98812}"/>
              </a:ext>
            </a:extLst>
          </p:cNvPr>
          <p:cNvSpPr/>
          <p:nvPr/>
        </p:nvSpPr>
        <p:spPr>
          <a:xfrm>
            <a:off x="0" y="4886275"/>
            <a:ext cx="9144000" cy="267494"/>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latin typeface="Times New Roman" panose="02020603050405020304" pitchFamily="18" charset="0"/>
                <a:cs typeface="Times New Roman" panose="02020603050405020304" pitchFamily="18" charset="0"/>
              </a:rPr>
              <a:t>MRCET     CAMPUS                                                                                                     </a:t>
            </a:r>
            <a:r>
              <a:rPr lang="en-US" sz="1200" dirty="0">
                <a:latin typeface="Times New Roman" panose="02020603050405020304" pitchFamily="18" charset="0"/>
                <a:cs typeface="Times New Roman" panose="02020603050405020304" pitchFamily="18" charset="0"/>
              </a:rPr>
              <a:t>Department of Electronics &amp; Communication Engineering </a:t>
            </a:r>
          </a:p>
        </p:txBody>
      </p:sp>
      <p:pic>
        <p:nvPicPr>
          <p:cNvPr id="8" name="Picture 7">
            <a:extLst>
              <a:ext uri="{FF2B5EF4-FFF2-40B4-BE49-F238E27FC236}">
                <a16:creationId xmlns:a16="http://schemas.microsoft.com/office/drawing/2014/main" id="{059694C3-C0B9-5EEE-C2AD-6726ECA0E7C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25890" y="0"/>
            <a:ext cx="1218110" cy="1191577"/>
          </a:xfrm>
          <a:prstGeom prst="rect">
            <a:avLst/>
          </a:prstGeom>
        </p:spPr>
      </p:pic>
      <p:pic>
        <p:nvPicPr>
          <p:cNvPr id="2" name="Picture 4" descr="Thank You Image Images – Browse 113,431 Stock Photos, Vectors, and Video |  Adobe Stock">
            <a:extLst>
              <a:ext uri="{FF2B5EF4-FFF2-40B4-BE49-F238E27FC236}">
                <a16:creationId xmlns:a16="http://schemas.microsoft.com/office/drawing/2014/main" id="{8C24DEF5-4331-3356-6115-ACEFC35E2B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1469" y="1131590"/>
            <a:ext cx="8801061" cy="33003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17121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2648</TotalTime>
  <Words>1180</Words>
  <Application>Microsoft Office PowerPoint</Application>
  <PresentationFormat>On-screen Show (16:9)</PresentationFormat>
  <Paragraphs>132</Paragraphs>
  <Slides>17</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Arial Black</vt:lpstr>
      <vt:lpstr>Calibri</vt:lpstr>
      <vt:lpstr>Times New Roman</vt:lpstr>
      <vt:lpstr>Wingdings</vt:lpstr>
      <vt:lpstr>Office Theme</vt:lpstr>
      <vt:lpstr>CROP DISEASE DETECTION USING IMAGE CLASSIFICATION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MRGI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MRCET_ECE</dc:creator>
  <cp:lastModifiedBy>Sharan Deep</cp:lastModifiedBy>
  <cp:revision>280</cp:revision>
  <dcterms:created xsi:type="dcterms:W3CDTF">2015-01-07T05:42:14Z</dcterms:created>
  <dcterms:modified xsi:type="dcterms:W3CDTF">2025-10-24T11:48:21Z</dcterms:modified>
</cp:coreProperties>
</file>