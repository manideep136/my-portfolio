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332" r:id="rId2"/>
    <p:sldId id="362" r:id="rId3"/>
    <p:sldId id="384" r:id="rId4"/>
    <p:sldId id="385" r:id="rId5"/>
    <p:sldId id="386" r:id="rId6"/>
    <p:sldId id="387" r:id="rId7"/>
    <p:sldId id="392" r:id="rId8"/>
    <p:sldId id="396" r:id="rId9"/>
    <p:sldId id="388" r:id="rId10"/>
    <p:sldId id="394" r:id="rId11"/>
    <p:sldId id="395" r:id="rId12"/>
    <p:sldId id="389" r:id="rId13"/>
    <p:sldId id="390" r:id="rId14"/>
    <p:sldId id="391" r:id="rId15"/>
    <p:sldId id="393" r:id="rId1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84281" autoAdjust="0"/>
  </p:normalViewPr>
  <p:slideViewPr>
    <p:cSldViewPr>
      <p:cViewPr varScale="1">
        <p:scale>
          <a:sx n="92" d="100"/>
          <a:sy n="92" d="100"/>
        </p:scale>
        <p:origin x="1147" y="58"/>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BEF44EB-9559-410D-B9D2-E5EE47EE71EF}" type="datetimeFigureOut">
              <a:rPr lang="en-US" smtClean="0"/>
              <a:pPr/>
              <a:t>4/17/2025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AADADA9-0F65-47B7-B841-33C55E8DD2A2}" type="slidenum">
              <a:rPr lang="en-US" smtClean="0"/>
              <a:pPr/>
              <a:t>‹#›</a:t>
            </a:fld>
            <a:endParaRPr lang="en-US"/>
          </a:p>
        </p:txBody>
      </p:sp>
    </p:spTree>
    <p:extLst>
      <p:ext uri="{BB962C8B-B14F-4D97-AF65-F5344CB8AC3E}">
        <p14:creationId xmlns:p14="http://schemas.microsoft.com/office/powerpoint/2010/main" val="1964867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AADADA9-0F65-47B7-B841-33C55E8DD2A2}" type="slidenum">
              <a:rPr lang="en-US" smtClean="0"/>
              <a:pPr/>
              <a:t>13</a:t>
            </a:fld>
            <a:endParaRPr lang="en-US"/>
          </a:p>
        </p:txBody>
      </p:sp>
    </p:spTree>
    <p:extLst>
      <p:ext uri="{BB962C8B-B14F-4D97-AF65-F5344CB8AC3E}">
        <p14:creationId xmlns:p14="http://schemas.microsoft.com/office/powerpoint/2010/main" val="25616609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E7F46C0-CB14-4E67-A055-215E6C1C6EB0}"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1EE8DB-46DF-46F2-AC97-E753418DFCA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7F46C0-CB14-4E67-A055-215E6C1C6EB0}"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1EE8DB-46DF-46F2-AC97-E753418DFCA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7F46C0-CB14-4E67-A055-215E6C1C6EB0}"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1EE8DB-46DF-46F2-AC97-E753418DFCA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E7F46C0-CB14-4E67-A055-215E6C1C6EB0}" type="datetimeFigureOut">
              <a:rPr lang="en-US" smtClean="0"/>
              <a:pPr/>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1EE8DB-46DF-46F2-AC97-E753418DFCA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E7F46C0-CB14-4E67-A055-215E6C1C6EB0}" type="datetimeFigureOut">
              <a:rPr lang="en-US" smtClean="0"/>
              <a:pPr/>
              <a:t>4/17/2025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1EE8DB-46DF-46F2-AC97-E753418DFCA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E7F46C0-CB14-4E67-A055-215E6C1C6EB0}" type="datetimeFigureOut">
              <a:rPr lang="en-US" smtClean="0"/>
              <a:pPr/>
              <a:t>4/17/2025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1EE8DB-46DF-46F2-AC97-E753418DFCA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7F46C0-CB14-4E67-A055-215E6C1C6EB0}" type="datetimeFigureOut">
              <a:rPr lang="en-US" smtClean="0"/>
              <a:pPr/>
              <a:t>4/17/2025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21EE8DB-46DF-46F2-AC97-E753418DFCA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7F46C0-CB14-4E67-A055-215E6C1C6EB0}" type="datetimeFigureOut">
              <a:rPr lang="en-US" smtClean="0"/>
              <a:pPr/>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1EE8DB-46DF-46F2-AC97-E753418DFCA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7F46C0-CB14-4E67-A055-215E6C1C6EB0}" type="datetimeFigureOut">
              <a:rPr lang="en-US" smtClean="0"/>
              <a:pPr/>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1EE8DB-46DF-46F2-AC97-E753418DFCA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7F46C0-CB14-4E67-A055-215E6C1C6EB0}"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1EE8DB-46DF-46F2-AC97-E753418DFCA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7F46C0-CB14-4E67-A055-215E6C1C6EB0}"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1EE8DB-46DF-46F2-AC97-E753418DFCA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E7F46C0-CB14-4E67-A055-215E6C1C6EB0}" type="datetimeFigureOut">
              <a:rPr lang="en-US" smtClean="0"/>
              <a:pPr/>
              <a:t>4/17/2025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421EE8DB-46DF-46F2-AC97-E753418DFCA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2DE78692-6BE5-0615-74CA-315B74C37702}"/>
              </a:ext>
            </a:extLst>
          </p:cNvPr>
          <p:cNvGrpSpPr/>
          <p:nvPr/>
        </p:nvGrpSpPr>
        <p:grpSpPr>
          <a:xfrm>
            <a:off x="0" y="0"/>
            <a:ext cx="9144000" cy="5153769"/>
            <a:chOff x="0" y="0"/>
            <a:chExt cx="9144000" cy="5153769"/>
          </a:xfrm>
        </p:grpSpPr>
        <p:sp>
          <p:nvSpPr>
            <p:cNvPr id="6" name="Rectangle 5"/>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10" name="Picture 9">
              <a:extLst>
                <a:ext uri="{FF2B5EF4-FFF2-40B4-BE49-F238E27FC236}">
                  <a16:creationId xmlns:a16="http://schemas.microsoft.com/office/drawing/2014/main" id="{72AEFF41-2C2F-3639-C4A8-00FEFCEB70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grpSp>
      <p:sp>
        <p:nvSpPr>
          <p:cNvPr id="2" name="Title 1"/>
          <p:cNvSpPr>
            <a:spLocks noGrp="1"/>
          </p:cNvSpPr>
          <p:nvPr>
            <p:ph type="ctrTitle"/>
          </p:nvPr>
        </p:nvSpPr>
        <p:spPr>
          <a:xfrm>
            <a:off x="685800" y="1923678"/>
            <a:ext cx="7772400" cy="1102519"/>
          </a:xfrm>
          <a:solidFill>
            <a:schemeClr val="tx2">
              <a:lumMod val="75000"/>
            </a:schemeClr>
          </a:solidFill>
        </p:spPr>
        <p:txBody>
          <a:bodyPr>
            <a:normAutofit/>
          </a:bodyPr>
          <a:lstStyle/>
          <a:p>
            <a:r>
              <a:rPr lang="en-US" sz="3200" dirty="0">
                <a:solidFill>
                  <a:srgbClr val="FFFF00"/>
                </a:solidFill>
                <a:latin typeface="Times New Roman" pitchFamily="18" charset="0"/>
                <a:cs typeface="Times New Roman" pitchFamily="18" charset="0"/>
              </a:rPr>
              <a:t>HOW RAM AND ROM  IMPACT SYSTEM BOOTING , PERFORMANCE</a:t>
            </a:r>
          </a:p>
        </p:txBody>
      </p:sp>
      <p:sp>
        <p:nvSpPr>
          <p:cNvPr id="3" name="TextBox 2"/>
          <p:cNvSpPr txBox="1"/>
          <p:nvPr/>
        </p:nvSpPr>
        <p:spPr>
          <a:xfrm>
            <a:off x="1943708" y="1511018"/>
            <a:ext cx="5256584" cy="369332"/>
          </a:xfrm>
          <a:prstGeom prst="rect">
            <a:avLst/>
          </a:prstGeom>
          <a:noFill/>
        </p:spPr>
        <p:txBody>
          <a:bodyPr wrap="square" rtlCol="0">
            <a:spAutoFit/>
          </a:bodyPr>
          <a:lstStyle/>
          <a:p>
            <a:pPr algn="ctr"/>
            <a:r>
              <a:rPr lang="en-US" dirty="0">
                <a:latin typeface="Times New Roman" pitchFamily="18" charset="0"/>
                <a:cs typeface="Times New Roman" pitchFamily="18" charset="0"/>
              </a:rPr>
              <a:t>Real Time Project/Field-based Project  Presentation on  </a:t>
            </a:r>
          </a:p>
        </p:txBody>
      </p:sp>
      <p:sp>
        <p:nvSpPr>
          <p:cNvPr id="4" name="TextBox 3">
            <a:extLst>
              <a:ext uri="{FF2B5EF4-FFF2-40B4-BE49-F238E27FC236}">
                <a16:creationId xmlns:a16="http://schemas.microsoft.com/office/drawing/2014/main" id="{70A44BAB-9F42-06C9-B08F-C38BE8CEEEB9}"/>
              </a:ext>
            </a:extLst>
          </p:cNvPr>
          <p:cNvSpPr txBox="1"/>
          <p:nvPr/>
        </p:nvSpPr>
        <p:spPr>
          <a:xfrm>
            <a:off x="432656" y="3665299"/>
            <a:ext cx="3022104" cy="830997"/>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Name of Internal Guide </a:t>
            </a:r>
          </a:p>
          <a:p>
            <a:r>
              <a:rPr lang="en-US" sz="1600" dirty="0" err="1">
                <a:latin typeface="Times New Roman" panose="02020603050405020304" pitchFamily="18" charset="0"/>
                <a:cs typeface="Times New Roman" panose="02020603050405020304" pitchFamily="18" charset="0"/>
              </a:rPr>
              <a:t>Mr</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KDK.Ajay</a:t>
            </a:r>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                   Assistant Professor </a:t>
            </a:r>
            <a:endParaRPr lang="en-IN" sz="1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270DEFA-AAC7-1460-7776-43370E8710AC}"/>
              </a:ext>
            </a:extLst>
          </p:cNvPr>
          <p:cNvSpPr txBox="1"/>
          <p:nvPr/>
        </p:nvSpPr>
        <p:spPr>
          <a:xfrm>
            <a:off x="107504" y="228333"/>
            <a:ext cx="2232248" cy="338554"/>
          </a:xfrm>
          <a:prstGeom prst="rect">
            <a:avLst/>
          </a:prstGeom>
          <a:noFill/>
        </p:spPr>
        <p:txBody>
          <a:bodyPr wrap="square" rtlCol="0">
            <a:spAutoFit/>
          </a:bodyPr>
          <a:lstStyle/>
          <a:p>
            <a:r>
              <a:rPr lang="en-US" sz="1600" dirty="0">
                <a:solidFill>
                  <a:srgbClr val="FFFF00"/>
                </a:solidFill>
                <a:latin typeface="Arial Black" panose="020B0A04020102020204" pitchFamily="34" charset="0"/>
                <a:cs typeface="Times New Roman" panose="02020603050405020304" pitchFamily="18" charset="0"/>
              </a:rPr>
              <a:t>Batch No : 23-A20</a:t>
            </a:r>
          </a:p>
        </p:txBody>
      </p:sp>
      <p:sp>
        <p:nvSpPr>
          <p:cNvPr id="8" name="TextBox 7">
            <a:extLst>
              <a:ext uri="{FF2B5EF4-FFF2-40B4-BE49-F238E27FC236}">
                <a16:creationId xmlns:a16="http://schemas.microsoft.com/office/drawing/2014/main" id="{80124CF5-C89D-CACA-AE8D-41CEC78B5AFC}"/>
              </a:ext>
            </a:extLst>
          </p:cNvPr>
          <p:cNvSpPr txBox="1"/>
          <p:nvPr/>
        </p:nvSpPr>
        <p:spPr>
          <a:xfrm>
            <a:off x="5542992" y="3665299"/>
            <a:ext cx="3168352" cy="1077218"/>
          </a:xfrm>
          <a:prstGeom prst="rect">
            <a:avLst/>
          </a:prstGeom>
          <a:noFill/>
        </p:spPr>
        <p:txBody>
          <a:bodyPr wrap="square" rtlCol="0">
            <a:spAutoFit/>
          </a:bodyPr>
          <a:lstStyle/>
          <a:p>
            <a:r>
              <a:rPr lang="en-US" sz="1600" dirty="0" err="1">
                <a:latin typeface="Times New Roman" panose="02020603050405020304" pitchFamily="18" charset="0"/>
                <a:cs typeface="Times New Roman" panose="02020603050405020304" pitchFamily="18" charset="0"/>
              </a:rPr>
              <a:t>K.Manideep</a:t>
            </a:r>
            <a:r>
              <a:rPr lang="en-US" sz="1600" dirty="0">
                <a:latin typeface="Times New Roman" panose="02020603050405020304" pitchFamily="18" charset="0"/>
                <a:cs typeface="Times New Roman" panose="02020603050405020304" pitchFamily="18" charset="0"/>
              </a:rPr>
              <a:t>  : 23N31A456</a:t>
            </a:r>
          </a:p>
          <a:p>
            <a:r>
              <a:rPr lang="en-US" sz="1600" dirty="0" err="1">
                <a:latin typeface="Times New Roman" panose="02020603050405020304" pitchFamily="18" charset="0"/>
                <a:cs typeface="Times New Roman" panose="02020603050405020304" pitchFamily="18" charset="0"/>
              </a:rPr>
              <a:t>K.Rajkumar</a:t>
            </a:r>
            <a:r>
              <a:rPr lang="en-US" sz="1600" dirty="0">
                <a:latin typeface="Times New Roman" panose="02020603050405020304" pitchFamily="18" charset="0"/>
                <a:cs typeface="Times New Roman" panose="02020603050405020304" pitchFamily="18" charset="0"/>
              </a:rPr>
              <a:t>  : 23N31A458 </a:t>
            </a:r>
          </a:p>
          <a:p>
            <a:r>
              <a:rPr lang="en-US" sz="1600" dirty="0" err="1">
                <a:latin typeface="Times New Roman" panose="02020603050405020304" pitchFamily="18" charset="0"/>
                <a:cs typeface="Times New Roman" panose="02020603050405020304" pitchFamily="18" charset="0"/>
              </a:rPr>
              <a:t>K.Anudeep</a:t>
            </a:r>
            <a:r>
              <a:rPr lang="en-US" sz="1600" dirty="0">
                <a:latin typeface="Times New Roman" panose="02020603050405020304" pitchFamily="18" charset="0"/>
                <a:cs typeface="Times New Roman" panose="02020603050405020304" pitchFamily="18" charset="0"/>
              </a:rPr>
              <a:t>   : 23N31A459 </a:t>
            </a:r>
          </a:p>
          <a:p>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3626684-2D27-0C17-977C-DFF26722704F}"/>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Arial Black" panose="020B0A04020102020204" pitchFamily="34" charset="0"/>
              </a:rPr>
              <a:t>Contents</a:t>
            </a:r>
          </a:p>
        </p:txBody>
      </p:sp>
      <p:sp>
        <p:nvSpPr>
          <p:cNvPr id="5" name="Rectangle 4">
            <a:extLst>
              <a:ext uri="{FF2B5EF4-FFF2-40B4-BE49-F238E27FC236}">
                <a16:creationId xmlns:a16="http://schemas.microsoft.com/office/drawing/2014/main" id="{DC55FFC3-B961-0541-DDDE-A830F00FC115}"/>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8" name="Picture 7">
            <a:extLst>
              <a:ext uri="{FF2B5EF4-FFF2-40B4-BE49-F238E27FC236}">
                <a16:creationId xmlns:a16="http://schemas.microsoft.com/office/drawing/2014/main" id="{E7533D81-4858-F442-EB2D-B3F4D9F3A7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sp>
        <p:nvSpPr>
          <p:cNvPr id="2" name="TextBox 1"/>
          <p:cNvSpPr txBox="1"/>
          <p:nvPr/>
        </p:nvSpPr>
        <p:spPr>
          <a:xfrm>
            <a:off x="465638" y="1275606"/>
            <a:ext cx="4394393" cy="2308324"/>
          </a:xfrm>
          <a:prstGeom prst="rect">
            <a:avLst/>
          </a:prstGeom>
          <a:noFill/>
        </p:spPr>
        <p:txBody>
          <a:bodyPr wrap="square" rtlCol="0">
            <a:spAutoFit/>
          </a:bodyPr>
          <a:lstStyle/>
          <a:p>
            <a:pPr marL="342900" indent="-342900">
              <a:buFont typeface="Arial" pitchFamily="34" charset="0"/>
              <a:buChar char="•"/>
            </a:pPr>
            <a:r>
              <a:rPr lang="en-US" sz="2400" dirty="0">
                <a:latin typeface="Times New Roman" pitchFamily="18" charset="0"/>
                <a:cs typeface="Times New Roman" pitchFamily="18" charset="0"/>
              </a:rPr>
              <a:t>Abstract </a:t>
            </a:r>
          </a:p>
          <a:p>
            <a:pPr marL="342900" indent="-342900">
              <a:buFont typeface="Arial" pitchFamily="34" charset="0"/>
              <a:buChar char="•"/>
            </a:pPr>
            <a:r>
              <a:rPr lang="en-US" sz="2400" dirty="0">
                <a:latin typeface="Times New Roman" pitchFamily="18" charset="0"/>
                <a:cs typeface="Times New Roman" pitchFamily="18" charset="0"/>
              </a:rPr>
              <a:t>Introduction </a:t>
            </a:r>
          </a:p>
          <a:p>
            <a:pPr marL="342900" indent="-342900">
              <a:buFont typeface="Arial" pitchFamily="34" charset="0"/>
              <a:buChar char="•"/>
            </a:pPr>
            <a:r>
              <a:rPr lang="en-US" sz="2400" dirty="0">
                <a:latin typeface="Times New Roman" pitchFamily="18" charset="0"/>
                <a:cs typeface="Times New Roman" pitchFamily="18" charset="0"/>
              </a:rPr>
              <a:t>Review of Existing Methods </a:t>
            </a:r>
          </a:p>
          <a:p>
            <a:pPr marL="342900" indent="-342900">
              <a:buFont typeface="Arial" pitchFamily="34" charset="0"/>
              <a:buChar char="•"/>
            </a:pPr>
            <a:r>
              <a:rPr lang="en-US" sz="2400" dirty="0">
                <a:latin typeface="Times New Roman" pitchFamily="18" charset="0"/>
                <a:cs typeface="Times New Roman" pitchFamily="18" charset="0"/>
              </a:rPr>
              <a:t>Proposed Method </a:t>
            </a:r>
          </a:p>
          <a:p>
            <a:pPr marL="342900" indent="-342900">
              <a:buFont typeface="Arial" pitchFamily="34" charset="0"/>
              <a:buChar char="•"/>
            </a:pPr>
            <a:r>
              <a:rPr lang="en-US" sz="2400" dirty="0">
                <a:latin typeface="Times New Roman" pitchFamily="18" charset="0"/>
                <a:cs typeface="Times New Roman" pitchFamily="18" charset="0"/>
              </a:rPr>
              <a:t>Conclusion</a:t>
            </a:r>
          </a:p>
          <a:p>
            <a:pPr marL="342900" indent="-342900">
              <a:buFont typeface="Arial" pitchFamily="34" charset="0"/>
              <a:buChar char="•"/>
            </a:pPr>
            <a:r>
              <a:rPr lang="en-US" sz="2400" dirty="0">
                <a:latin typeface="Times New Roman" pitchFamily="18" charset="0"/>
                <a:cs typeface="Times New Roman" pitchFamily="18" charset="0"/>
              </a:rPr>
              <a:t>References</a:t>
            </a:r>
          </a:p>
        </p:txBody>
      </p:sp>
    </p:spTree>
    <p:extLst>
      <p:ext uri="{BB962C8B-B14F-4D97-AF65-F5344CB8AC3E}">
        <p14:creationId xmlns:p14="http://schemas.microsoft.com/office/powerpoint/2010/main" val="1120862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314D5-1C27-D041-C98B-68A8E961CDF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A80258B-5714-BACA-EE68-60D4DD3B31D9}"/>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Arial Black" panose="020B0A04020102020204" pitchFamily="34" charset="0"/>
              </a:rPr>
              <a:t>Abstract</a:t>
            </a:r>
          </a:p>
        </p:txBody>
      </p:sp>
      <p:sp>
        <p:nvSpPr>
          <p:cNvPr id="5" name="Rectangle 4">
            <a:extLst>
              <a:ext uri="{FF2B5EF4-FFF2-40B4-BE49-F238E27FC236}">
                <a16:creationId xmlns:a16="http://schemas.microsoft.com/office/drawing/2014/main" id="{C560490E-498F-3F24-57F1-3797535CCD7D}"/>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8" name="Picture 7">
            <a:extLst>
              <a:ext uri="{FF2B5EF4-FFF2-40B4-BE49-F238E27FC236}">
                <a16:creationId xmlns:a16="http://schemas.microsoft.com/office/drawing/2014/main" id="{0FA6251C-0D95-B707-2AE6-DFAC75735C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sp>
        <p:nvSpPr>
          <p:cNvPr id="7" name="TextBox 6">
            <a:extLst>
              <a:ext uri="{FF2B5EF4-FFF2-40B4-BE49-F238E27FC236}">
                <a16:creationId xmlns:a16="http://schemas.microsoft.com/office/drawing/2014/main" id="{785DFB37-C7F7-A473-AD30-D608F9FECC9D}"/>
              </a:ext>
            </a:extLst>
          </p:cNvPr>
          <p:cNvSpPr txBox="1"/>
          <p:nvPr/>
        </p:nvSpPr>
        <p:spPr>
          <a:xfrm>
            <a:off x="254025" y="1140589"/>
            <a:ext cx="8280920" cy="2862322"/>
          </a:xfrm>
          <a:prstGeom prst="rect">
            <a:avLst/>
          </a:prstGeom>
          <a:noFill/>
        </p:spPr>
        <p:txBody>
          <a:bodyPr wrap="square" rtlCol="0">
            <a:spAutoFit/>
          </a:bodyPr>
          <a:lstStyle/>
          <a:p>
            <a:r>
              <a:rPr lang="en-US"/>
              <a:t>This project explores the impact of RAM (Random Access Memory) and ROM (Read-Only Memory) on system booting and performance. RAM facilitates fast data access during operation, enhancing multitasking and speed, while ROM stores essential firmware like BIOS/UEFI, crucial for bootstrapping. The study analyzes how RAM capacity and speed affect system responsiveness and how ROM firmware optimizations influence boot times. Experiments compare performance metrics with varying RAM/ROM configurations, demonstrating their roles in efficiency. Findings highlight that sufficient RAM reduces lag, while optimized ROM ensures faster booting. The research underscores the synergy between RAM and ROM in overall system performance.</a:t>
            </a:r>
            <a:endParaRPr lang="en-IN" dirty="0"/>
          </a:p>
        </p:txBody>
      </p:sp>
    </p:spTree>
    <p:extLst>
      <p:ext uri="{BB962C8B-B14F-4D97-AF65-F5344CB8AC3E}">
        <p14:creationId xmlns:p14="http://schemas.microsoft.com/office/powerpoint/2010/main" val="472033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E5AFC-4694-FF71-5937-7FFBE6DC2A6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B2B0C91-4240-B60E-AD57-6FFC34B85D16}"/>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Arial Black" panose="020B0A04020102020204" pitchFamily="34" charset="0"/>
              </a:rPr>
              <a:t>Introduction</a:t>
            </a:r>
          </a:p>
        </p:txBody>
      </p:sp>
      <p:sp>
        <p:nvSpPr>
          <p:cNvPr id="5" name="Rectangle 4">
            <a:extLst>
              <a:ext uri="{FF2B5EF4-FFF2-40B4-BE49-F238E27FC236}">
                <a16:creationId xmlns:a16="http://schemas.microsoft.com/office/drawing/2014/main" id="{A384470C-DC1B-5ECA-D6B4-91E78DB2AA16}"/>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8" name="Picture 7">
            <a:extLst>
              <a:ext uri="{FF2B5EF4-FFF2-40B4-BE49-F238E27FC236}">
                <a16:creationId xmlns:a16="http://schemas.microsoft.com/office/drawing/2014/main" id="{DC0479D9-487A-5BEA-4B1D-068B90DEFA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sp>
        <p:nvSpPr>
          <p:cNvPr id="3" name="TextBox 2">
            <a:extLst>
              <a:ext uri="{FF2B5EF4-FFF2-40B4-BE49-F238E27FC236}">
                <a16:creationId xmlns:a16="http://schemas.microsoft.com/office/drawing/2014/main" id="{9D8556C7-82D6-334F-B762-202334F7253F}"/>
              </a:ext>
            </a:extLst>
          </p:cNvPr>
          <p:cNvSpPr txBox="1"/>
          <p:nvPr/>
        </p:nvSpPr>
        <p:spPr>
          <a:xfrm>
            <a:off x="300346" y="1011110"/>
            <a:ext cx="8208912" cy="3416320"/>
          </a:xfrm>
          <a:prstGeom prst="rect">
            <a:avLst/>
          </a:prstGeom>
          <a:noFill/>
        </p:spPr>
        <p:txBody>
          <a:bodyPr wrap="square" rtlCol="0">
            <a:spAutoFit/>
          </a:bodyPr>
          <a:lstStyle/>
          <a:p>
            <a:r>
              <a:rPr lang="en-US" dirty="0"/>
              <a:t>In modern computing systems, the efficiency of booting and overall performance heavily relies on two critical types of memory: RAM (Random Access Memory) and ROM (Read-Only Memory). RAM serves as volatile, high-speed memory that temporarily stores active data for quick access, directly influencing system speed and multitasking capabilities. On the other hand, ROM contains non-volatile firmware (such as BIOS/UEFI) essential for initializing hardware during the boot process.  </a:t>
            </a:r>
          </a:p>
          <a:p>
            <a:r>
              <a:rPr lang="en-US" dirty="0"/>
              <a:t>This project investigates how RAM capacity and speed affect system responsiveness and how ROM firmware optimizations impact boot times. By analyzing different memory configurations, the study aims to demonstrate the interplay between RAM and ROM in enhancing system performance. Understanding their roles helps in optimizing computing devices for faster startups and smoother operation.  </a:t>
            </a:r>
          </a:p>
          <a:p>
            <a:endParaRPr lang="en-US" dirty="0"/>
          </a:p>
        </p:txBody>
      </p:sp>
    </p:spTree>
    <p:extLst>
      <p:ext uri="{BB962C8B-B14F-4D97-AF65-F5344CB8AC3E}">
        <p14:creationId xmlns:p14="http://schemas.microsoft.com/office/powerpoint/2010/main" val="3425177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14D5B-E12A-900B-0955-45B3A9DEBCD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CBA7F55-625C-5A70-C458-E9DDFED85B19}"/>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Arial Black" panose="020B0A04020102020204" pitchFamily="34" charset="0"/>
              </a:rPr>
              <a:t>Existing Methods</a:t>
            </a:r>
          </a:p>
        </p:txBody>
      </p:sp>
      <p:sp>
        <p:nvSpPr>
          <p:cNvPr id="5" name="Rectangle 4">
            <a:extLst>
              <a:ext uri="{FF2B5EF4-FFF2-40B4-BE49-F238E27FC236}">
                <a16:creationId xmlns:a16="http://schemas.microsoft.com/office/drawing/2014/main" id="{6468BF80-CB16-87F0-CCCA-36D034B62604}"/>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8" name="Picture 7">
            <a:extLst>
              <a:ext uri="{FF2B5EF4-FFF2-40B4-BE49-F238E27FC236}">
                <a16:creationId xmlns:a16="http://schemas.microsoft.com/office/drawing/2014/main" id="{B7639047-2865-1E7D-2BFF-3B6AB8E17D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sp>
        <p:nvSpPr>
          <p:cNvPr id="2" name="TextBox 1">
            <a:extLst>
              <a:ext uri="{FF2B5EF4-FFF2-40B4-BE49-F238E27FC236}">
                <a16:creationId xmlns:a16="http://schemas.microsoft.com/office/drawing/2014/main" id="{1428C8B6-F735-02AE-8D75-AFCE81A33881}"/>
              </a:ext>
            </a:extLst>
          </p:cNvPr>
          <p:cNvSpPr txBox="1"/>
          <p:nvPr/>
        </p:nvSpPr>
        <p:spPr>
          <a:xfrm>
            <a:off x="251520" y="1059582"/>
            <a:ext cx="7776864" cy="3416320"/>
          </a:xfrm>
          <a:prstGeom prst="rect">
            <a:avLst/>
          </a:prstGeom>
          <a:noFill/>
        </p:spPr>
        <p:txBody>
          <a:bodyPr wrap="square" rtlCol="0">
            <a:spAutoFit/>
          </a:bodyPr>
          <a:lstStyle/>
          <a:p>
            <a:r>
              <a:rPr lang="en-US" dirty="0"/>
              <a:t>To understand how RAM and ROM influence the booting process and overall system performance .These methods typically involve hardware benchmarking, firmware analysis, and system-level testing .</a:t>
            </a:r>
          </a:p>
          <a:p>
            <a:r>
              <a:rPr lang="en-US" b="1" dirty="0"/>
              <a:t>Boot Time analysis with varying RAM sizes :</a:t>
            </a:r>
          </a:p>
          <a:p>
            <a:r>
              <a:rPr lang="en-US" dirty="0"/>
              <a:t>For different RAM capacities affect the speed of system booting. By using tools like Boot Racer and many other we can measure boot duration across with 2GB, 4GB and 8GB RAM we can clearly observe improvements in speed with increased RAM </a:t>
            </a:r>
          </a:p>
          <a:p>
            <a:r>
              <a:rPr lang="en-US" b="1" dirty="0"/>
              <a:t>ROM Firmware behavior study :</a:t>
            </a:r>
          </a:p>
          <a:p>
            <a:r>
              <a:rPr lang="en-US" dirty="0"/>
              <a:t>The BIOS and UEFI Firmware will show how ROM content influences initial boot stages. By using tools such as </a:t>
            </a:r>
            <a:r>
              <a:rPr lang="en-US" dirty="0" err="1"/>
              <a:t>UEFItool</a:t>
            </a:r>
            <a:r>
              <a:rPr lang="en-US" dirty="0"/>
              <a:t> and firmware disassemblers are used to explore how optimized firmware can reduce boot latency.</a:t>
            </a:r>
          </a:p>
        </p:txBody>
      </p:sp>
    </p:spTree>
    <p:extLst>
      <p:ext uri="{BB962C8B-B14F-4D97-AF65-F5344CB8AC3E}">
        <p14:creationId xmlns:p14="http://schemas.microsoft.com/office/powerpoint/2010/main" val="4132272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1A156-B932-A041-0639-4210ED63FE4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A2C3312-B40A-587F-EAFC-42D13B716190}"/>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Arial Black" panose="020B0A04020102020204" pitchFamily="34" charset="0"/>
              </a:rPr>
              <a:t>Proposed Method Block Diagram</a:t>
            </a:r>
          </a:p>
        </p:txBody>
      </p:sp>
      <p:sp>
        <p:nvSpPr>
          <p:cNvPr id="5" name="Rectangle 4">
            <a:extLst>
              <a:ext uri="{FF2B5EF4-FFF2-40B4-BE49-F238E27FC236}">
                <a16:creationId xmlns:a16="http://schemas.microsoft.com/office/drawing/2014/main" id="{1A2FD409-7DF5-DCC2-5076-6AA6E7B5E232}"/>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8" name="Picture 7">
            <a:extLst>
              <a:ext uri="{FF2B5EF4-FFF2-40B4-BE49-F238E27FC236}">
                <a16:creationId xmlns:a16="http://schemas.microsoft.com/office/drawing/2014/main" id="{547B2BB7-8DA4-3EB6-B06C-EAFFC9B5F0E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pic>
        <p:nvPicPr>
          <p:cNvPr id="2" name="Picture 1">
            <a:extLst>
              <a:ext uri="{FF2B5EF4-FFF2-40B4-BE49-F238E27FC236}">
                <a16:creationId xmlns:a16="http://schemas.microsoft.com/office/drawing/2014/main" id="{50DEC3BD-975D-FE10-8ADE-A7F9A152DEED}"/>
              </a:ext>
            </a:extLst>
          </p:cNvPr>
          <p:cNvPicPr>
            <a:picLocks noChangeAspect="1"/>
          </p:cNvPicPr>
          <p:nvPr/>
        </p:nvPicPr>
        <p:blipFill>
          <a:blip r:embed="rId3"/>
          <a:stretch>
            <a:fillRect/>
          </a:stretch>
        </p:blipFill>
        <p:spPr>
          <a:xfrm>
            <a:off x="4762016" y="1168197"/>
            <a:ext cx="4104457" cy="3299139"/>
          </a:xfrm>
          <a:prstGeom prst="rect">
            <a:avLst/>
          </a:prstGeom>
        </p:spPr>
      </p:pic>
      <p:pic>
        <p:nvPicPr>
          <p:cNvPr id="6" name="Picture 5">
            <a:extLst>
              <a:ext uri="{FF2B5EF4-FFF2-40B4-BE49-F238E27FC236}">
                <a16:creationId xmlns:a16="http://schemas.microsoft.com/office/drawing/2014/main" id="{BC3FEE06-1F3F-A8F8-330C-06414DD30187}"/>
              </a:ext>
            </a:extLst>
          </p:cNvPr>
          <p:cNvPicPr>
            <a:picLocks noChangeAspect="1"/>
          </p:cNvPicPr>
          <p:nvPr/>
        </p:nvPicPr>
        <p:blipFill>
          <a:blip r:embed="rId4"/>
          <a:stretch>
            <a:fillRect/>
          </a:stretch>
        </p:blipFill>
        <p:spPr>
          <a:xfrm>
            <a:off x="251520" y="1191577"/>
            <a:ext cx="4104458" cy="3252380"/>
          </a:xfrm>
          <a:prstGeom prst="rect">
            <a:avLst/>
          </a:prstGeom>
        </p:spPr>
      </p:pic>
    </p:spTree>
    <p:extLst>
      <p:ext uri="{BB962C8B-B14F-4D97-AF65-F5344CB8AC3E}">
        <p14:creationId xmlns:p14="http://schemas.microsoft.com/office/powerpoint/2010/main" val="750084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0C15F-FB53-C053-1617-C3368DE9E5A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0DA40C6-495C-CE0D-0DB2-DC1220A05964}"/>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Arial Black" panose="020B0A04020102020204" pitchFamily="34" charset="0"/>
              </a:rPr>
              <a:t>Proposed Method Explanation</a:t>
            </a:r>
          </a:p>
        </p:txBody>
      </p:sp>
      <p:sp>
        <p:nvSpPr>
          <p:cNvPr id="5" name="Rectangle 4">
            <a:extLst>
              <a:ext uri="{FF2B5EF4-FFF2-40B4-BE49-F238E27FC236}">
                <a16:creationId xmlns:a16="http://schemas.microsoft.com/office/drawing/2014/main" id="{220256DC-C7E6-0647-55CE-5D2CD366800D}"/>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8" name="Picture 7">
            <a:extLst>
              <a:ext uri="{FF2B5EF4-FFF2-40B4-BE49-F238E27FC236}">
                <a16:creationId xmlns:a16="http://schemas.microsoft.com/office/drawing/2014/main" id="{EE4F163B-6729-27FF-C677-ED113BC1FAC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sp>
        <p:nvSpPr>
          <p:cNvPr id="2" name="TextBox 1">
            <a:extLst>
              <a:ext uri="{FF2B5EF4-FFF2-40B4-BE49-F238E27FC236}">
                <a16:creationId xmlns:a16="http://schemas.microsoft.com/office/drawing/2014/main" id="{1C686710-0B1A-67B3-CE1D-62AADF407CDF}"/>
              </a:ext>
            </a:extLst>
          </p:cNvPr>
          <p:cNvSpPr txBox="1"/>
          <p:nvPr/>
        </p:nvSpPr>
        <p:spPr>
          <a:xfrm>
            <a:off x="251520" y="919823"/>
            <a:ext cx="8568952" cy="3970318"/>
          </a:xfrm>
          <a:prstGeom prst="rect">
            <a:avLst/>
          </a:prstGeom>
          <a:noFill/>
        </p:spPr>
        <p:txBody>
          <a:bodyPr wrap="square" rtlCol="0">
            <a:spAutoFit/>
          </a:bodyPr>
          <a:lstStyle/>
          <a:p>
            <a:r>
              <a:rPr lang="en-US" dirty="0"/>
              <a:t>RAM and ROM play crucial roles in system’s booting process and overall performance.</a:t>
            </a:r>
          </a:p>
          <a:p>
            <a:r>
              <a:rPr lang="en-US" b="1" dirty="0"/>
              <a:t>ROM IN BOOTING :</a:t>
            </a:r>
          </a:p>
          <a:p>
            <a:pPr marL="285750" indent="-285750">
              <a:buFont typeface="Wingdings" panose="05000000000000000000" pitchFamily="2" charset="2"/>
              <a:buChar char="Ø"/>
            </a:pPr>
            <a:r>
              <a:rPr lang="en-US" dirty="0"/>
              <a:t>System Initialization: ROM stores the BIOS (Basic Input/Output System) or UEFI (Unified Extensible Firmware Interface), which is responsible for initializing hardware components when a system is powered on.</a:t>
            </a:r>
          </a:p>
          <a:p>
            <a:pPr marL="285750" indent="-285750">
              <a:buFont typeface="Wingdings" panose="05000000000000000000" pitchFamily="2" charset="2"/>
              <a:buChar char="Ø"/>
            </a:pPr>
            <a:r>
              <a:rPr lang="en-US" dirty="0"/>
              <a:t> Bootloader: The BIOS/UEFI in ROM identifies system hardware and loads the bootloader (stored on the hard drive or SSD) into RAM to begin the operating system boot process.</a:t>
            </a:r>
          </a:p>
          <a:p>
            <a:r>
              <a:rPr lang="en-US" b="1" dirty="0"/>
              <a:t>RAM IN BOOTING :</a:t>
            </a:r>
          </a:p>
          <a:p>
            <a:pPr marL="285750" indent="-285750">
              <a:buFont typeface="Wingdings" panose="05000000000000000000" pitchFamily="2" charset="2"/>
              <a:buChar char="Ø"/>
            </a:pPr>
            <a:r>
              <a:rPr lang="en-US" dirty="0"/>
              <a:t>Temporary Storage: RAM provides temporary space for loading system data, operating system files, and active programs during boot-up. The OS kernel and essential drivers are loaded into RAM for fast access.</a:t>
            </a:r>
          </a:p>
          <a:p>
            <a:pPr marL="285750" indent="-285750">
              <a:buFont typeface="Wingdings" panose="05000000000000000000" pitchFamily="2" charset="2"/>
              <a:buChar char="Ø"/>
            </a:pPr>
            <a:r>
              <a:rPr lang="en-US" dirty="0"/>
              <a:t>Speed: Since RAM is much faster than hard drives or SSDs, it allows quick access to the OS and applications, speeding up boot time.</a:t>
            </a:r>
          </a:p>
        </p:txBody>
      </p:sp>
    </p:spTree>
    <p:extLst>
      <p:ext uri="{BB962C8B-B14F-4D97-AF65-F5344CB8AC3E}">
        <p14:creationId xmlns:p14="http://schemas.microsoft.com/office/powerpoint/2010/main" val="2170899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93D768D-8ED5-7471-EE02-ED7ADEBE2DE9}"/>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latin typeface="Arial Black" panose="020B0A04020102020204" pitchFamily="34" charset="0"/>
            </a:endParaRPr>
          </a:p>
        </p:txBody>
      </p:sp>
      <p:sp>
        <p:nvSpPr>
          <p:cNvPr id="9" name="Rectangle 8">
            <a:extLst>
              <a:ext uri="{FF2B5EF4-FFF2-40B4-BE49-F238E27FC236}">
                <a16:creationId xmlns:a16="http://schemas.microsoft.com/office/drawing/2014/main" id="{A0782F39-1CAF-C353-F1C3-FB98BDDA622B}"/>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10" name="Picture 9">
            <a:extLst>
              <a:ext uri="{FF2B5EF4-FFF2-40B4-BE49-F238E27FC236}">
                <a16:creationId xmlns:a16="http://schemas.microsoft.com/office/drawing/2014/main" id="{C89EBB04-2ABF-1034-1E88-B8D4C6A960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sp>
        <p:nvSpPr>
          <p:cNvPr id="12" name="TextBox 11">
            <a:extLst>
              <a:ext uri="{FF2B5EF4-FFF2-40B4-BE49-F238E27FC236}">
                <a16:creationId xmlns:a16="http://schemas.microsoft.com/office/drawing/2014/main" id="{033E95DF-391A-CAC6-E145-2FF3D859CD87}"/>
              </a:ext>
            </a:extLst>
          </p:cNvPr>
          <p:cNvSpPr txBox="1"/>
          <p:nvPr/>
        </p:nvSpPr>
        <p:spPr>
          <a:xfrm>
            <a:off x="35496" y="987574"/>
            <a:ext cx="8928992" cy="4247317"/>
          </a:xfrm>
          <a:prstGeom prst="rect">
            <a:avLst/>
          </a:prstGeom>
          <a:noFill/>
        </p:spPr>
        <p:txBody>
          <a:bodyPr wrap="square" rtlCol="0">
            <a:spAutoFit/>
          </a:bodyPr>
          <a:lstStyle/>
          <a:p>
            <a:r>
              <a:rPr lang="en-US" b="1" dirty="0"/>
              <a:t>IMPACT ON PERFORMANCE:</a:t>
            </a:r>
          </a:p>
          <a:p>
            <a:pPr marL="285750" indent="-285750">
              <a:buFont typeface="Wingdings" panose="05000000000000000000" pitchFamily="2" charset="2"/>
              <a:buChar char="Ø"/>
            </a:pPr>
            <a:r>
              <a:rPr lang="en-US" dirty="0"/>
              <a:t>ROM</a:t>
            </a:r>
            <a:r>
              <a:rPr lang="en-US" b="1" dirty="0"/>
              <a:t> </a:t>
            </a:r>
            <a:r>
              <a:rPr lang="en-US" dirty="0"/>
              <a:t>generally does not affect system performance after boot-up since it's used mainly for system initialization. However, the size and efficiency of ROM in terms of storing BIOS/UEFI can affect boot speed and system compatibility.</a:t>
            </a:r>
          </a:p>
          <a:p>
            <a:pPr marL="285750" indent="-285750">
              <a:buFont typeface="Wingdings" panose="05000000000000000000" pitchFamily="2" charset="2"/>
              <a:buChar char="Ø"/>
            </a:pPr>
            <a:r>
              <a:rPr lang="en-US" dirty="0"/>
              <a:t>More RAM means the system can store more data for active programs, resulting in smoother multitasking and faster application loading.</a:t>
            </a:r>
          </a:p>
          <a:p>
            <a:pPr marL="285750" indent="-285750">
              <a:buFont typeface="Wingdings" panose="05000000000000000000" pitchFamily="2" charset="2"/>
              <a:buChar char="Ø"/>
            </a:pPr>
            <a:r>
              <a:rPr lang="en-US" dirty="0"/>
              <a:t>Larger RAM allows better performance when running memory-intensive applications (</a:t>
            </a:r>
            <a:r>
              <a:rPr lang="en-US" dirty="0" err="1"/>
              <a:t>e.g</a:t>
            </a:r>
            <a:r>
              <a:rPr lang="en-US" dirty="0"/>
              <a:t>, video editing, gaming).</a:t>
            </a:r>
          </a:p>
          <a:p>
            <a:r>
              <a:rPr lang="en-US" dirty="0"/>
              <a:t> </a:t>
            </a:r>
            <a:r>
              <a:rPr lang="en-US" b="1" dirty="0"/>
              <a:t>SUMMARY</a:t>
            </a:r>
          </a:p>
          <a:p>
            <a:pPr marL="285750" indent="-285750">
              <a:buFont typeface="Wingdings" panose="05000000000000000000" pitchFamily="2" charset="2"/>
              <a:buChar char="Ø"/>
            </a:pPr>
            <a:r>
              <a:rPr lang="en-US" dirty="0"/>
              <a:t>ROM is essential for the boot process and system initialization but does not directly impact ongoing performance.</a:t>
            </a:r>
          </a:p>
          <a:p>
            <a:pPr marL="285750" indent="-285750">
              <a:buFont typeface="Wingdings" panose="05000000000000000000" pitchFamily="2" charset="2"/>
              <a:buChar char="Ø"/>
            </a:pPr>
            <a:r>
              <a:rPr lang="en-US" dirty="0"/>
              <a:t>RAM affects both boot speed (by loading necessary files faster) and overall system performance, making it crucial for multitasking and handling resource-intensive tasks efficiently.</a:t>
            </a:r>
          </a:p>
          <a:p>
            <a:endParaRPr lang="en-IN" dirty="0"/>
          </a:p>
        </p:txBody>
      </p:sp>
    </p:spTree>
    <p:extLst>
      <p:ext uri="{BB962C8B-B14F-4D97-AF65-F5344CB8AC3E}">
        <p14:creationId xmlns:p14="http://schemas.microsoft.com/office/powerpoint/2010/main" val="4137068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AD20D-0944-7F78-323C-8D71B5DC50D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099A339-EF03-371E-31EF-9890767D452C}"/>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latin typeface="Arial Black" panose="020B0A04020102020204" pitchFamily="34" charset="0"/>
            </a:endParaRPr>
          </a:p>
        </p:txBody>
      </p:sp>
      <p:sp>
        <p:nvSpPr>
          <p:cNvPr id="5" name="Rectangle 4">
            <a:extLst>
              <a:ext uri="{FF2B5EF4-FFF2-40B4-BE49-F238E27FC236}">
                <a16:creationId xmlns:a16="http://schemas.microsoft.com/office/drawing/2014/main" id="{7F355EF2-DDC3-DA0B-44A1-0C9E0504BAAD}"/>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8" name="Picture 7">
            <a:extLst>
              <a:ext uri="{FF2B5EF4-FFF2-40B4-BE49-F238E27FC236}">
                <a16:creationId xmlns:a16="http://schemas.microsoft.com/office/drawing/2014/main" id="{0E14E619-E26C-96B8-5CAD-DB91276659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pic>
        <p:nvPicPr>
          <p:cNvPr id="3" name="Picture 2">
            <a:extLst>
              <a:ext uri="{FF2B5EF4-FFF2-40B4-BE49-F238E27FC236}">
                <a16:creationId xmlns:a16="http://schemas.microsoft.com/office/drawing/2014/main" id="{C5C2BC74-586F-21E1-5738-599A374071E0}"/>
              </a:ext>
            </a:extLst>
          </p:cNvPr>
          <p:cNvPicPr>
            <a:picLocks noChangeAspect="1"/>
          </p:cNvPicPr>
          <p:nvPr/>
        </p:nvPicPr>
        <p:blipFill>
          <a:blip r:embed="rId3"/>
          <a:srcRect l="3191" t="20599" r="27614" b="31801"/>
          <a:stretch/>
        </p:blipFill>
        <p:spPr>
          <a:xfrm>
            <a:off x="1115616" y="1563638"/>
            <a:ext cx="6336704" cy="2830602"/>
          </a:xfrm>
          <a:prstGeom prst="rect">
            <a:avLst/>
          </a:prstGeom>
        </p:spPr>
      </p:pic>
      <p:sp>
        <p:nvSpPr>
          <p:cNvPr id="6" name="TextBox 5">
            <a:extLst>
              <a:ext uri="{FF2B5EF4-FFF2-40B4-BE49-F238E27FC236}">
                <a16:creationId xmlns:a16="http://schemas.microsoft.com/office/drawing/2014/main" id="{AD15E9A3-1FE7-FE92-1E57-FCBBDE24723E}"/>
              </a:ext>
            </a:extLst>
          </p:cNvPr>
          <p:cNvSpPr txBox="1"/>
          <p:nvPr/>
        </p:nvSpPr>
        <p:spPr>
          <a:xfrm>
            <a:off x="1835696" y="1132955"/>
            <a:ext cx="4320480" cy="369332"/>
          </a:xfrm>
          <a:prstGeom prst="rect">
            <a:avLst/>
          </a:prstGeom>
          <a:noFill/>
        </p:spPr>
        <p:txBody>
          <a:bodyPr wrap="square" rtlCol="0">
            <a:spAutoFit/>
          </a:bodyPr>
          <a:lstStyle/>
          <a:p>
            <a:r>
              <a:rPr lang="en-US" dirty="0"/>
              <a:t>                </a:t>
            </a:r>
            <a:r>
              <a:rPr lang="en-US" b="1" dirty="0">
                <a:solidFill>
                  <a:schemeClr val="accent5">
                    <a:lumMod val="50000"/>
                  </a:schemeClr>
                </a:solidFill>
              </a:rPr>
              <a:t>COMPARISON TABLE</a:t>
            </a:r>
            <a:endParaRPr lang="en-IN" b="1" dirty="0">
              <a:solidFill>
                <a:schemeClr val="accent5">
                  <a:lumMod val="50000"/>
                </a:schemeClr>
              </a:solidFill>
            </a:endParaRPr>
          </a:p>
        </p:txBody>
      </p:sp>
    </p:spTree>
    <p:extLst>
      <p:ext uri="{BB962C8B-B14F-4D97-AF65-F5344CB8AC3E}">
        <p14:creationId xmlns:p14="http://schemas.microsoft.com/office/powerpoint/2010/main" val="2074855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B91DC56-CADE-7992-0597-DD6811AC5AC7}"/>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latin typeface="Arial Black" panose="020B0A04020102020204" pitchFamily="34" charset="0"/>
            </a:endParaRPr>
          </a:p>
        </p:txBody>
      </p:sp>
      <p:sp>
        <p:nvSpPr>
          <p:cNvPr id="5" name="Rectangle 4">
            <a:extLst>
              <a:ext uri="{FF2B5EF4-FFF2-40B4-BE49-F238E27FC236}">
                <a16:creationId xmlns:a16="http://schemas.microsoft.com/office/drawing/2014/main" id="{377C9A0F-F5A7-385C-2DB5-9C8337EA47ED}"/>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6" name="Picture 5">
            <a:extLst>
              <a:ext uri="{FF2B5EF4-FFF2-40B4-BE49-F238E27FC236}">
                <a16:creationId xmlns:a16="http://schemas.microsoft.com/office/drawing/2014/main" id="{6859A521-DD28-6331-CB31-2404FB2A98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pic>
        <p:nvPicPr>
          <p:cNvPr id="10" name="Picture 9">
            <a:extLst>
              <a:ext uri="{FF2B5EF4-FFF2-40B4-BE49-F238E27FC236}">
                <a16:creationId xmlns:a16="http://schemas.microsoft.com/office/drawing/2014/main" id="{64BF1CBD-1E10-A2AD-BBC3-5576662C2148}"/>
              </a:ext>
            </a:extLst>
          </p:cNvPr>
          <p:cNvPicPr>
            <a:picLocks noChangeAspect="1"/>
          </p:cNvPicPr>
          <p:nvPr/>
        </p:nvPicPr>
        <p:blipFill rotWithShape="1">
          <a:blip r:embed="rId3"/>
          <a:srcRect t="24435"/>
          <a:stretch/>
        </p:blipFill>
        <p:spPr>
          <a:xfrm>
            <a:off x="895737" y="1375023"/>
            <a:ext cx="7010400" cy="2979787"/>
          </a:xfrm>
          <a:prstGeom prst="rect">
            <a:avLst/>
          </a:prstGeom>
        </p:spPr>
      </p:pic>
    </p:spTree>
    <p:extLst>
      <p:ext uri="{BB962C8B-B14F-4D97-AF65-F5344CB8AC3E}">
        <p14:creationId xmlns:p14="http://schemas.microsoft.com/office/powerpoint/2010/main" val="2064951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1D49FDC-DC6F-09E8-B301-4182F56F689A}"/>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Arial Black" panose="020B0A04020102020204" pitchFamily="34" charset="0"/>
              </a:rPr>
              <a:t>Advantages</a:t>
            </a:r>
          </a:p>
        </p:txBody>
      </p:sp>
      <p:sp>
        <p:nvSpPr>
          <p:cNvPr id="5" name="Rectangle 4">
            <a:extLst>
              <a:ext uri="{FF2B5EF4-FFF2-40B4-BE49-F238E27FC236}">
                <a16:creationId xmlns:a16="http://schemas.microsoft.com/office/drawing/2014/main" id="{44C38687-C538-D267-80EE-2F529655E6AD}"/>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6" name="Picture 5">
            <a:extLst>
              <a:ext uri="{FF2B5EF4-FFF2-40B4-BE49-F238E27FC236}">
                <a16:creationId xmlns:a16="http://schemas.microsoft.com/office/drawing/2014/main" id="{B919212B-B92F-9811-CCFE-438306E6747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09933" y="0"/>
            <a:ext cx="1218110" cy="1191577"/>
          </a:xfrm>
          <a:prstGeom prst="rect">
            <a:avLst/>
          </a:prstGeom>
        </p:spPr>
      </p:pic>
      <p:sp>
        <p:nvSpPr>
          <p:cNvPr id="9" name="TextBox 8">
            <a:extLst>
              <a:ext uri="{FF2B5EF4-FFF2-40B4-BE49-F238E27FC236}">
                <a16:creationId xmlns:a16="http://schemas.microsoft.com/office/drawing/2014/main" id="{6D42CAF8-1F5B-B106-7B40-3E28EC6AF1EE}"/>
              </a:ext>
            </a:extLst>
          </p:cNvPr>
          <p:cNvSpPr txBox="1"/>
          <p:nvPr/>
        </p:nvSpPr>
        <p:spPr>
          <a:xfrm>
            <a:off x="505312" y="1191577"/>
            <a:ext cx="4032448" cy="646331"/>
          </a:xfrm>
          <a:prstGeom prst="rect">
            <a:avLst/>
          </a:prstGeom>
          <a:noFill/>
        </p:spPr>
        <p:txBody>
          <a:bodyPr wrap="square" rtlCol="0">
            <a:spAutoFit/>
          </a:bodyPr>
          <a:lstStyle/>
          <a:p>
            <a:pPr algn="l"/>
            <a:r>
              <a:rPr lang="en-US" b="1" i="0">
                <a:solidFill>
                  <a:srgbClr val="F8FAFF"/>
                </a:solidFill>
                <a:effectLst/>
                <a:latin typeface="DeepSeek-CJK-patch"/>
              </a:rPr>
              <a:t>Advantages of RAM (Random Access Memory)</a:t>
            </a:r>
          </a:p>
        </p:txBody>
      </p:sp>
      <p:sp>
        <p:nvSpPr>
          <p:cNvPr id="12" name="TextBox 11">
            <a:extLst>
              <a:ext uri="{FF2B5EF4-FFF2-40B4-BE49-F238E27FC236}">
                <a16:creationId xmlns:a16="http://schemas.microsoft.com/office/drawing/2014/main" id="{490A5FD9-9F6C-B1AC-88F3-226FA09F9881}"/>
              </a:ext>
            </a:extLst>
          </p:cNvPr>
          <p:cNvSpPr txBox="1"/>
          <p:nvPr/>
        </p:nvSpPr>
        <p:spPr>
          <a:xfrm>
            <a:off x="467544" y="1190886"/>
            <a:ext cx="3960440" cy="2954655"/>
          </a:xfrm>
          <a:prstGeom prst="rect">
            <a:avLst/>
          </a:prstGeom>
          <a:noFill/>
        </p:spPr>
        <p:txBody>
          <a:bodyPr wrap="square" rtlCol="0">
            <a:spAutoFit/>
          </a:bodyPr>
          <a:lstStyle/>
          <a:p>
            <a:r>
              <a:rPr lang="en-US" sz="2400" b="1" u="sng" dirty="0">
                <a:solidFill>
                  <a:schemeClr val="tx2"/>
                </a:solidFill>
              </a:rPr>
              <a:t>Advantages of RAM : </a:t>
            </a:r>
          </a:p>
          <a:p>
            <a:endParaRPr lang="en-IN" i="0" dirty="0">
              <a:effectLst/>
              <a:latin typeface="DeepSeek-CJK-patch"/>
            </a:endParaRPr>
          </a:p>
          <a:p>
            <a:pPr marL="285750" indent="-285750">
              <a:buFont typeface="Arial" panose="020B0604020202020204" pitchFamily="34" charset="0"/>
              <a:buChar char="•"/>
            </a:pPr>
            <a:r>
              <a:rPr lang="en-IN" i="0" dirty="0">
                <a:effectLst/>
                <a:latin typeface="DeepSeek-CJK-patch"/>
              </a:rPr>
              <a:t>High-Speed Data Access</a:t>
            </a:r>
          </a:p>
          <a:p>
            <a:pPr marL="285750" indent="-285750">
              <a:buFont typeface="Arial" panose="020B0604020202020204" pitchFamily="34" charset="0"/>
              <a:buChar char="•"/>
            </a:pPr>
            <a:r>
              <a:rPr lang="en-IN" i="0" dirty="0">
                <a:effectLst/>
                <a:latin typeface="DeepSeek-CJK-patch"/>
              </a:rPr>
              <a:t>Enables Smooth Multitasking</a:t>
            </a:r>
          </a:p>
          <a:p>
            <a:pPr marL="285750" indent="-285750">
              <a:buFont typeface="Arial" panose="020B0604020202020204" pitchFamily="34" charset="0"/>
              <a:buChar char="•"/>
            </a:pPr>
            <a:r>
              <a:rPr lang="en-IN" i="0" dirty="0">
                <a:effectLst/>
                <a:latin typeface="DeepSeek-CJK-patch"/>
              </a:rPr>
              <a:t>Improves Gaming &amp; Heavy Applications </a:t>
            </a:r>
          </a:p>
          <a:p>
            <a:pPr marL="285750" indent="-285750">
              <a:buFont typeface="Arial" panose="020B0604020202020204" pitchFamily="34" charset="0"/>
              <a:buChar char="•"/>
            </a:pPr>
            <a:r>
              <a:rPr lang="en-IN" i="0" dirty="0">
                <a:effectLst/>
                <a:latin typeface="DeepSeek-CJK-patch"/>
              </a:rPr>
              <a:t>Upgradeable for Better Performance</a:t>
            </a:r>
          </a:p>
          <a:p>
            <a:pPr marL="285750" indent="-285750">
              <a:buFont typeface="Arial" panose="020B0604020202020204" pitchFamily="34" charset="0"/>
              <a:buChar char="•"/>
            </a:pPr>
            <a:r>
              <a:rPr lang="en-US" i="0" dirty="0">
                <a:effectLst/>
                <a:latin typeface="DeepSeek-CJK-patch"/>
              </a:rPr>
              <a:t>Works with CPU for Faster Processing</a:t>
            </a:r>
          </a:p>
          <a:p>
            <a:pPr marL="285750" indent="-285750">
              <a:buFont typeface="Arial" panose="020B0604020202020204" pitchFamily="34" charset="0"/>
              <a:buChar char="•"/>
            </a:pPr>
            <a:r>
              <a:rPr lang="en-IN" i="0" dirty="0">
                <a:effectLst/>
                <a:latin typeface="DeepSeek-CJK-patch"/>
              </a:rPr>
              <a:t>Supports Virtual Memory</a:t>
            </a:r>
          </a:p>
          <a:p>
            <a:pPr marL="285750" indent="-285750">
              <a:buFont typeface="Arial" panose="020B0604020202020204" pitchFamily="34" charset="0"/>
              <a:buChar char="•"/>
            </a:pPr>
            <a:endParaRPr lang="en-IN" dirty="0"/>
          </a:p>
        </p:txBody>
      </p:sp>
      <p:sp>
        <p:nvSpPr>
          <p:cNvPr id="14" name="TextBox 13">
            <a:extLst>
              <a:ext uri="{FF2B5EF4-FFF2-40B4-BE49-F238E27FC236}">
                <a16:creationId xmlns:a16="http://schemas.microsoft.com/office/drawing/2014/main" id="{E8A5C3F7-5CBA-5BF0-FBB4-5CF8135859AE}"/>
              </a:ext>
            </a:extLst>
          </p:cNvPr>
          <p:cNvSpPr txBox="1"/>
          <p:nvPr/>
        </p:nvSpPr>
        <p:spPr>
          <a:xfrm>
            <a:off x="4932040" y="1190886"/>
            <a:ext cx="3222680" cy="3323987"/>
          </a:xfrm>
          <a:prstGeom prst="rect">
            <a:avLst/>
          </a:prstGeom>
          <a:noFill/>
        </p:spPr>
        <p:txBody>
          <a:bodyPr wrap="square" rtlCol="0">
            <a:spAutoFit/>
          </a:bodyPr>
          <a:lstStyle/>
          <a:p>
            <a:r>
              <a:rPr lang="en-IN" sz="2400" b="1" u="sng" dirty="0">
                <a:solidFill>
                  <a:schemeClr val="tx2"/>
                </a:solidFill>
              </a:rPr>
              <a:t>Advantages of ROM:</a:t>
            </a:r>
          </a:p>
          <a:p>
            <a:endParaRPr lang="en-IN" sz="2400" b="1" u="sng" dirty="0">
              <a:solidFill>
                <a:schemeClr val="tx2"/>
              </a:solidFill>
            </a:endParaRPr>
          </a:p>
          <a:p>
            <a:pPr marL="285750" indent="-285750">
              <a:buFont typeface="Arial" panose="020B0604020202020204" pitchFamily="34" charset="0"/>
              <a:buChar char="•"/>
            </a:pPr>
            <a:r>
              <a:rPr lang="en-IN" dirty="0"/>
              <a:t>Secure &amp; Tamper-Proof</a:t>
            </a:r>
          </a:p>
          <a:p>
            <a:pPr marL="285750" indent="-285750">
              <a:buFont typeface="Arial" panose="020B0604020202020204" pitchFamily="34" charset="0"/>
              <a:buChar char="•"/>
            </a:pPr>
            <a:r>
              <a:rPr lang="en-IN" dirty="0"/>
              <a:t>Essential for Booting</a:t>
            </a:r>
          </a:p>
          <a:p>
            <a:pPr marL="285750" indent="-285750">
              <a:buFont typeface="Arial" panose="020B0604020202020204" pitchFamily="34" charset="0"/>
              <a:buChar char="•"/>
            </a:pPr>
            <a:r>
              <a:rPr lang="en-IN" dirty="0"/>
              <a:t>Energy-Efficient</a:t>
            </a:r>
          </a:p>
          <a:p>
            <a:pPr marL="285750" indent="-285750">
              <a:buFont typeface="Arial" panose="020B0604020202020204" pitchFamily="34" charset="0"/>
              <a:buChar char="•"/>
            </a:pPr>
            <a:r>
              <a:rPr lang="en-IN" dirty="0"/>
              <a:t>Long-Term Storage</a:t>
            </a:r>
          </a:p>
          <a:p>
            <a:pPr marL="285750" indent="-285750">
              <a:buFont typeface="Arial" panose="020B0604020202020204" pitchFamily="34" charset="0"/>
              <a:buChar char="•"/>
            </a:pPr>
            <a:r>
              <a:rPr lang="en-IN" dirty="0"/>
              <a:t>Faster Boot Times (UEFI ROM)</a:t>
            </a:r>
          </a:p>
          <a:p>
            <a:pPr marL="285750" indent="-285750">
              <a:buFont typeface="Arial" panose="020B0604020202020204" pitchFamily="34" charset="0"/>
              <a:buChar char="•"/>
            </a:pPr>
            <a:r>
              <a:rPr lang="en-IN" dirty="0"/>
              <a:t>Cost-Effective for Fixed Data</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4073625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899BB-5536-A088-64CE-6CD8FC42CB1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129429E-430A-5383-85F4-2F87C6752DF7}"/>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Arial Black" panose="020B0A04020102020204" pitchFamily="34" charset="0"/>
              </a:rPr>
              <a:t>Conclusion</a:t>
            </a:r>
          </a:p>
        </p:txBody>
      </p:sp>
      <p:sp>
        <p:nvSpPr>
          <p:cNvPr id="5" name="Rectangle 4">
            <a:extLst>
              <a:ext uri="{FF2B5EF4-FFF2-40B4-BE49-F238E27FC236}">
                <a16:creationId xmlns:a16="http://schemas.microsoft.com/office/drawing/2014/main" id="{BA5AE361-8957-EB94-C3BB-B6303FEF20E3}"/>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8" name="Picture 7">
            <a:extLst>
              <a:ext uri="{FF2B5EF4-FFF2-40B4-BE49-F238E27FC236}">
                <a16:creationId xmlns:a16="http://schemas.microsoft.com/office/drawing/2014/main" id="{5AA92A2B-0103-6ACC-6162-A5D8B4B7023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sp>
        <p:nvSpPr>
          <p:cNvPr id="2" name="TextBox 1">
            <a:extLst>
              <a:ext uri="{FF2B5EF4-FFF2-40B4-BE49-F238E27FC236}">
                <a16:creationId xmlns:a16="http://schemas.microsoft.com/office/drawing/2014/main" id="{9FFEA5F4-521F-F0E4-5F01-94CC250E8D04}"/>
              </a:ext>
            </a:extLst>
          </p:cNvPr>
          <p:cNvSpPr txBox="1"/>
          <p:nvPr/>
        </p:nvSpPr>
        <p:spPr>
          <a:xfrm>
            <a:off x="562283" y="1275606"/>
            <a:ext cx="7344816" cy="2308324"/>
          </a:xfrm>
          <a:prstGeom prst="rect">
            <a:avLst/>
          </a:prstGeom>
          <a:noFill/>
        </p:spPr>
        <p:txBody>
          <a:bodyPr wrap="square" rtlCol="0">
            <a:spAutoFit/>
          </a:bodyPr>
          <a:lstStyle/>
          <a:p>
            <a:r>
              <a:rPr lang="en-US"/>
              <a:t>This project demonstrates that RAM and ROM play distinct yet complementary roles in system performance. While ROM (BIOS/UEFI) ensures fast, reliable booting, RAM directly impacts multitasking speed and responsiveness. Tests confirm that larger/faster RAM reduces lag, while optimized ROM firmware shortens boot times. The synergy between both memories is crucial for efficient computing. Future improvements could explore next-gen DDR5 RAM and UEFI enhancements for even faster startups and smoother operation.</a:t>
            </a:r>
            <a:endParaRPr lang="en-IN" dirty="0"/>
          </a:p>
        </p:txBody>
      </p:sp>
    </p:spTree>
    <p:extLst>
      <p:ext uri="{BB962C8B-B14F-4D97-AF65-F5344CB8AC3E}">
        <p14:creationId xmlns:p14="http://schemas.microsoft.com/office/powerpoint/2010/main" val="1577829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C4466-3814-E388-D036-38FA5C48BF3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EA0D7B0-DCE0-9E38-664F-03B7B2B363EE}"/>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Arial Black" panose="020B0A04020102020204" pitchFamily="34" charset="0"/>
              </a:rPr>
              <a:t>References</a:t>
            </a:r>
          </a:p>
        </p:txBody>
      </p:sp>
      <p:sp>
        <p:nvSpPr>
          <p:cNvPr id="5" name="Rectangle 4">
            <a:extLst>
              <a:ext uri="{FF2B5EF4-FFF2-40B4-BE49-F238E27FC236}">
                <a16:creationId xmlns:a16="http://schemas.microsoft.com/office/drawing/2014/main" id="{FA923434-795D-846D-E058-89C69C15D013}"/>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8" name="Picture 7">
            <a:extLst>
              <a:ext uri="{FF2B5EF4-FFF2-40B4-BE49-F238E27FC236}">
                <a16:creationId xmlns:a16="http://schemas.microsoft.com/office/drawing/2014/main" id="{A539FC14-AFAB-3A52-0DB1-44E7A12982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sp>
        <p:nvSpPr>
          <p:cNvPr id="2" name="TextBox 1">
            <a:extLst>
              <a:ext uri="{FF2B5EF4-FFF2-40B4-BE49-F238E27FC236}">
                <a16:creationId xmlns:a16="http://schemas.microsoft.com/office/drawing/2014/main" id="{B74B9756-349B-4583-4D08-C11E63762638}"/>
              </a:ext>
            </a:extLst>
          </p:cNvPr>
          <p:cNvSpPr txBox="1"/>
          <p:nvPr/>
        </p:nvSpPr>
        <p:spPr>
          <a:xfrm>
            <a:off x="395536" y="1131590"/>
            <a:ext cx="8280920" cy="3416320"/>
          </a:xfrm>
          <a:prstGeom prst="rect">
            <a:avLst/>
          </a:prstGeom>
          <a:noFill/>
        </p:spPr>
        <p:txBody>
          <a:bodyPr wrap="square" rtlCol="0">
            <a:spAutoFit/>
          </a:bodyPr>
          <a:lstStyle/>
          <a:p>
            <a:r>
              <a:rPr lang="en-IN" dirty="0"/>
              <a:t>     </a:t>
            </a:r>
            <a:r>
              <a:rPr lang="en-IN" b="1" u="sng" dirty="0">
                <a:solidFill>
                  <a:schemeClr val="accent3"/>
                </a:solidFill>
              </a:rPr>
              <a:t>Books</a:t>
            </a:r>
          </a:p>
          <a:p>
            <a:endParaRPr lang="en-US" b="1" u="sng" dirty="0">
              <a:solidFill>
                <a:schemeClr val="accent3"/>
              </a:solidFill>
            </a:endParaRPr>
          </a:p>
          <a:p>
            <a:pPr marL="285750" indent="-285750">
              <a:buFont typeface="Arial" panose="020B0604020202020204" pitchFamily="34" charset="0"/>
              <a:buChar char="•"/>
            </a:pPr>
            <a:r>
              <a:rPr lang="en-US" b="1" dirty="0"/>
              <a:t>"Computer Organization and Design" </a:t>
            </a:r>
            <a:r>
              <a:rPr lang="en-US" dirty="0"/>
              <a:t>by David A. Patterson and John L. Hennessy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"Digital Design" </a:t>
            </a:r>
            <a:r>
              <a:rPr lang="en-US" dirty="0"/>
              <a:t>by M. Morris Mano</a:t>
            </a:r>
          </a:p>
          <a:p>
            <a:pPr marL="285750" indent="-285750">
              <a:buFont typeface="Arial" panose="020B0604020202020204" pitchFamily="34" charset="0"/>
              <a:buChar char="•"/>
            </a:pPr>
            <a:endParaRPr lang="en-IN" dirty="0"/>
          </a:p>
          <a:p>
            <a:r>
              <a:rPr lang="en-IN" dirty="0"/>
              <a:t> </a:t>
            </a:r>
            <a:r>
              <a:rPr lang="en-IN" b="1" u="sng" dirty="0">
                <a:solidFill>
                  <a:schemeClr val="accent3"/>
                </a:solidFill>
              </a:rPr>
              <a:t>ARTICLES</a:t>
            </a:r>
          </a:p>
          <a:p>
            <a:pPr marL="285750" indent="-285750">
              <a:buFont typeface="Arial" panose="020B0604020202020204" pitchFamily="34" charset="0"/>
              <a:buChar char="•"/>
            </a:pPr>
            <a:r>
              <a:rPr lang="en-US" dirty="0"/>
              <a:t>“</a:t>
            </a:r>
            <a:r>
              <a:rPr lang="en-US" b="1" dirty="0"/>
              <a:t>A SURVEY OF MEMORY ARCHITECTURES FOR PARALLEL COMPUTING” </a:t>
            </a:r>
            <a:r>
              <a:rPr lang="en-US" dirty="0"/>
              <a:t>– IEEE Xplore</a:t>
            </a:r>
          </a:p>
          <a:p>
            <a:pPr marL="285750" indent="-285750">
              <a:buFont typeface="Arial" panose="020B0604020202020204" pitchFamily="34" charset="0"/>
              <a:buChar char="•"/>
            </a:pPr>
            <a:r>
              <a:rPr lang="en-US" b="1" dirty="0"/>
              <a:t>“NON-VOLATILE MEMORY TECHNOLOGIES </a:t>
            </a:r>
            <a:r>
              <a:rPr lang="en-US" dirty="0"/>
              <a:t>: ROM,FLASH,AND BEYOND”- ACM Digital Library</a:t>
            </a:r>
          </a:p>
          <a:p>
            <a:pPr marL="285750" indent="-285750">
              <a:buFont typeface="Arial" panose="020B0604020202020204" pitchFamily="34" charset="0"/>
              <a:buChar char="•"/>
            </a:pPr>
            <a:endParaRPr lang="en-IN" b="1" u="sng" dirty="0">
              <a:solidFill>
                <a:schemeClr val="accent3"/>
              </a:solidFill>
            </a:endParaRPr>
          </a:p>
        </p:txBody>
      </p:sp>
    </p:spTree>
    <p:extLst>
      <p:ext uri="{BB962C8B-B14F-4D97-AF65-F5344CB8AC3E}">
        <p14:creationId xmlns:p14="http://schemas.microsoft.com/office/powerpoint/2010/main" val="4043442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F6B0B-DB8C-EA03-3CB6-1CF225EA8C3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3157650-432F-8A73-42CC-1D5B90A9927A}"/>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latin typeface="Arial Black" panose="020B0A04020102020204" pitchFamily="34" charset="0"/>
            </a:endParaRPr>
          </a:p>
        </p:txBody>
      </p:sp>
      <p:sp>
        <p:nvSpPr>
          <p:cNvPr id="5" name="Rectangle 4">
            <a:extLst>
              <a:ext uri="{FF2B5EF4-FFF2-40B4-BE49-F238E27FC236}">
                <a16:creationId xmlns:a16="http://schemas.microsoft.com/office/drawing/2014/main" id="{34F2F332-DA8C-EE3C-7CEB-3D33710602B6}"/>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8" name="Picture 7">
            <a:extLst>
              <a:ext uri="{FF2B5EF4-FFF2-40B4-BE49-F238E27FC236}">
                <a16:creationId xmlns:a16="http://schemas.microsoft.com/office/drawing/2014/main" id="{5B169711-8932-A868-6CAB-80B984029E8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pic>
        <p:nvPicPr>
          <p:cNvPr id="1026" name="Picture 2" descr="Any Questions&quot; Images – Browse 459 Stock Photos, Vectors, and Video | Adobe  Stock">
            <a:extLst>
              <a:ext uri="{FF2B5EF4-FFF2-40B4-BE49-F238E27FC236}">
                <a16:creationId xmlns:a16="http://schemas.microsoft.com/office/drawing/2014/main" id="{9AB53671-BBD9-355B-82A4-9E8D29EEEF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756" y="1012944"/>
            <a:ext cx="8964488" cy="3411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9805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541C5-76B0-1E4B-08B5-8F6A0B8C401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73BE379-D802-E134-03EE-064AF63720C2}"/>
              </a:ext>
            </a:extLst>
          </p:cNvPr>
          <p:cNvSpPr/>
          <p:nvPr/>
        </p:nvSpPr>
        <p:spPr>
          <a:xfrm>
            <a:off x="0" y="0"/>
            <a:ext cx="9144000" cy="84355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latin typeface="Arial Black" panose="020B0A04020102020204" pitchFamily="34" charset="0"/>
            </a:endParaRPr>
          </a:p>
        </p:txBody>
      </p:sp>
      <p:sp>
        <p:nvSpPr>
          <p:cNvPr id="5" name="Rectangle 4">
            <a:extLst>
              <a:ext uri="{FF2B5EF4-FFF2-40B4-BE49-F238E27FC236}">
                <a16:creationId xmlns:a16="http://schemas.microsoft.com/office/drawing/2014/main" id="{59F09BEC-6480-BFE0-B108-A747CFF98812}"/>
              </a:ext>
            </a:extLst>
          </p:cNvPr>
          <p:cNvSpPr/>
          <p:nvPr/>
        </p:nvSpPr>
        <p:spPr>
          <a:xfrm>
            <a:off x="0" y="4886275"/>
            <a:ext cx="9144000" cy="26749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Times New Roman" panose="02020603050405020304" pitchFamily="18" charset="0"/>
                <a:cs typeface="Times New Roman" panose="02020603050405020304" pitchFamily="18" charset="0"/>
              </a:rPr>
              <a:t>MRCET CAMPUS                                                                                                              Department of Electronics &amp; Communication Engineering </a:t>
            </a:r>
          </a:p>
        </p:txBody>
      </p:sp>
      <p:pic>
        <p:nvPicPr>
          <p:cNvPr id="8" name="Picture 7">
            <a:extLst>
              <a:ext uri="{FF2B5EF4-FFF2-40B4-BE49-F238E27FC236}">
                <a16:creationId xmlns:a16="http://schemas.microsoft.com/office/drawing/2014/main" id="{059694C3-C0B9-5EEE-C2AD-6726ECA0E7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5890" y="0"/>
            <a:ext cx="1218110" cy="1191577"/>
          </a:xfrm>
          <a:prstGeom prst="rect">
            <a:avLst/>
          </a:prstGeom>
        </p:spPr>
      </p:pic>
      <p:pic>
        <p:nvPicPr>
          <p:cNvPr id="2" name="Picture 4" descr="Thank You Image Images – Browse 113,431 Stock Photos, Vectors, and Video |  Adobe Stock">
            <a:extLst>
              <a:ext uri="{FF2B5EF4-FFF2-40B4-BE49-F238E27FC236}">
                <a16:creationId xmlns:a16="http://schemas.microsoft.com/office/drawing/2014/main" id="{8C24DEF5-4331-3356-6115-ACEFC35E2B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469" y="1131590"/>
            <a:ext cx="8801061" cy="3300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1712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2345</TotalTime>
  <Words>1064</Words>
  <Application>Microsoft Office PowerPoint</Application>
  <PresentationFormat>On-screen Show (16:9)</PresentationFormat>
  <Paragraphs>90</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Arial Black</vt:lpstr>
      <vt:lpstr>Calibri</vt:lpstr>
      <vt:lpstr>DeepSeek-CJK-patch</vt:lpstr>
      <vt:lpstr>Times New Roman</vt:lpstr>
      <vt:lpstr>Wingdings</vt:lpstr>
      <vt:lpstr>Office Theme</vt:lpstr>
      <vt:lpstr>HOW RAM AND ROM  IMPACT SYSTEM BOOTING ,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MRGI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MRCET_ECE</dc:creator>
  <cp:lastModifiedBy>Sharan V</cp:lastModifiedBy>
  <cp:revision>258</cp:revision>
  <dcterms:created xsi:type="dcterms:W3CDTF">2015-01-07T05:42:14Z</dcterms:created>
  <dcterms:modified xsi:type="dcterms:W3CDTF">2025-04-17T05:07:09Z</dcterms:modified>
</cp:coreProperties>
</file>